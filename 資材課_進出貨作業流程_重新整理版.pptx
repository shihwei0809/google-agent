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bb7df08e341e7" /><Relationship Type="http://schemas.openxmlformats.org/officeDocument/2006/relationships/extended-properties" Target="/docProps/app.xml" Id="Rebb4c921c6924b60" /><Relationship Type="http://schemas.openxmlformats.org/officeDocument/2006/relationships/officeDocument" Target="/ppt/presentation.xml" Id="R1561554f214940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83d1b82db6400a"/>
  </p:sldMasterIdLst>
  <p:notesMasterIdLst>
    <p:notesMasterId xmlns:r="http://schemas.openxmlformats.org/officeDocument/2006/relationships" r:id="R0ceae41aff974df5"/>
  </p:notesMasterIdLst>
  <p:sldIdLst>
    <p:sldId xmlns:r="http://schemas.openxmlformats.org/officeDocument/2006/relationships" id="256" r:id="R28f63fadba6e4025"/>
    <p:sldId xmlns:r="http://schemas.openxmlformats.org/officeDocument/2006/relationships" id="257" r:id="R93f3571bc81e4e4f"/>
    <p:sldId xmlns:r="http://schemas.openxmlformats.org/officeDocument/2006/relationships" id="258" r:id="Ra45b4e4d196844fd"/>
    <p:sldId xmlns:r="http://schemas.openxmlformats.org/officeDocument/2006/relationships" id="259" r:id="R42d84a75c32645f8"/>
    <p:sldId xmlns:r="http://schemas.openxmlformats.org/officeDocument/2006/relationships" id="260" r:id="Re8a958061f134d4a"/>
    <p:sldId xmlns:r="http://schemas.openxmlformats.org/officeDocument/2006/relationships" id="261" r:id="R90f709f929964112"/>
    <p:sldId xmlns:r="http://schemas.openxmlformats.org/officeDocument/2006/relationships" id="262" r:id="R7f8fe16eecfe4c09"/>
    <p:sldId xmlns:r="http://schemas.openxmlformats.org/officeDocument/2006/relationships" id="263" r:id="Rc4b4e7534ce840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2022c4e0c3456c" /><Relationship Type="http://schemas.openxmlformats.org/officeDocument/2006/relationships/slideMaster" Target="/ppt/slideMasters/slideMaster1.xml" Id="Re183d1b82db6400a" /><Relationship Type="http://schemas.openxmlformats.org/officeDocument/2006/relationships/notesMaster" Target="/ppt/notesMasters/notesMaster1.xml" Id="R0ceae41aff974df5" /><Relationship Type="http://schemas.openxmlformats.org/officeDocument/2006/relationships/presProps" Target="/ppt/presProps.xml" Id="R522810f044f24026" /><Relationship Type="http://schemas.openxmlformats.org/officeDocument/2006/relationships/tableStyles" Target="/ppt/tableStyles.xml" Id="R7018c978930f4f52" /><Relationship Type="http://schemas.openxmlformats.org/officeDocument/2006/relationships/slide" Target="/ppt/slides/slide1.xml" Id="R28f63fadba6e4025" /><Relationship Type="http://schemas.openxmlformats.org/officeDocument/2006/relationships/slide" Target="/ppt/slides/slide2.xml" Id="R93f3571bc81e4e4f" /><Relationship Type="http://schemas.openxmlformats.org/officeDocument/2006/relationships/slide" Target="/ppt/slides/slide3.xml" Id="Ra45b4e4d196844fd" /><Relationship Type="http://schemas.openxmlformats.org/officeDocument/2006/relationships/slide" Target="/ppt/slides/slide4.xml" Id="R42d84a75c32645f8" /><Relationship Type="http://schemas.openxmlformats.org/officeDocument/2006/relationships/slide" Target="/ppt/slides/slide5.xml" Id="Re8a958061f134d4a" /><Relationship Type="http://schemas.openxmlformats.org/officeDocument/2006/relationships/slide" Target="/ppt/slides/slide6.xml" Id="R90f709f929964112" /><Relationship Type="http://schemas.openxmlformats.org/officeDocument/2006/relationships/slide" Target="/ppt/slides/slide7.xml" Id="R7f8fe16eecfe4c09" /><Relationship Type="http://schemas.openxmlformats.org/officeDocument/2006/relationships/slide" Target="/ppt/slides/slide8.xml" Id="Rc4b4e7534ce840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ca111538f4b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adb229feff44e8" /><Relationship Type="http://schemas.openxmlformats.org/officeDocument/2006/relationships/notesMaster" Target="/ppt/notesMasters/notesMaster1.xml" Id="R3377e74bdeba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07c47bac954cc6" /><Relationship Type="http://schemas.openxmlformats.org/officeDocument/2006/relationships/notesMaster" Target="/ppt/notesMasters/notesMaster1.xml" Id="R78a84c892c764b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f1d26940e942e9" /><Relationship Type="http://schemas.openxmlformats.org/officeDocument/2006/relationships/notesMaster" Target="/ppt/notesMasters/notesMaster1.xml" Id="R5226f3831214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8593dfb4864b50" /><Relationship Type="http://schemas.openxmlformats.org/officeDocument/2006/relationships/notesMaster" Target="/ppt/notesMasters/notesMaster1.xml" Id="R7288d9d3fb9b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c37836069c443d" /><Relationship Type="http://schemas.openxmlformats.org/officeDocument/2006/relationships/notesMaster" Target="/ppt/notesMasters/notesMaster1.xml" Id="R72cc9c697b9045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3c8781725840f7" /><Relationship Type="http://schemas.openxmlformats.org/officeDocument/2006/relationships/notesMaster" Target="/ppt/notesMasters/notesMaster1.xml" Id="R1d81a002d1ba47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35af6788d44057" /><Relationship Type="http://schemas.openxmlformats.org/officeDocument/2006/relationships/notesMaster" Target="/ppt/notesMasters/notesMaster1.xml" Id="Rbbd1a0f0b1c8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1375277e8e49d6" /><Relationship Type="http://schemas.openxmlformats.org/officeDocument/2006/relationships/notesMaster" Target="/ppt/notesMasters/notesMaster1.xml" Id="R8fa4f3ae3a074e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c71a08179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70985a82e04edf" /><Relationship Type="http://schemas.openxmlformats.org/officeDocument/2006/relationships/slideLayout" Target="/ppt/slideLayouts/slideLayout1.xml" Id="R7a64c5a50aa44e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64c5a50aa44e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605a6a65c47bc" /><Relationship Type="http://schemas.openxmlformats.org/officeDocument/2006/relationships/notesSlide" Target="/ppt/notesSlides/notesSlide1.xml" Id="R71518ec446bb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2ea6211a9456b" /><Relationship Type="http://schemas.openxmlformats.org/officeDocument/2006/relationships/notesSlide" Target="/ppt/notesSlides/notesSlide2.xml" Id="Rf29439fb320a4d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4c100935843a9" /><Relationship Type="http://schemas.openxmlformats.org/officeDocument/2006/relationships/notesSlide" Target="/ppt/notesSlides/notesSlide3.xml" Id="R9fad8c195bcb4e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67330d48d4965" /><Relationship Type="http://schemas.openxmlformats.org/officeDocument/2006/relationships/notesSlide" Target="/ppt/notesSlides/notesSlide4.xml" Id="R68a310a8f0cf41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db9936c14600" /><Relationship Type="http://schemas.openxmlformats.org/officeDocument/2006/relationships/notesSlide" Target="/ppt/notesSlides/notesSlide5.xml" Id="R4c1c9a4f4ef6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dd2c29a3543c6" /><Relationship Type="http://schemas.openxmlformats.org/officeDocument/2006/relationships/notesSlide" Target="/ppt/notesSlides/notesSlide6.xml" Id="Rb3b299a69a0a46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e50a397914af7" /><Relationship Type="http://schemas.openxmlformats.org/officeDocument/2006/relationships/notesSlide" Target="/ppt/notesSlides/notesSlide7.xml" Id="R09962ca9f767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180fb2ceb4613" /><Relationship Type="http://schemas.openxmlformats.org/officeDocument/2006/relationships/notesSlide" Target="/ppt/notesSlides/notesSlide8.xml" Id="R022f68cb4e1944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CC45E-A5A0-41B3-A1D0-1646BA4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43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B3A"/>
          </a:solidFill>
          <a:ln xmlns:a="http://schemas.openxmlformats.org/drawingml/2006/main" w="9525">
            <a:solidFill>
              <a:srgbClr val="E58B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D21A8-D9F9-4F93-94B5-85205402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9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D7DC"/>
                </a:solidFill>
              </a:defRPr>
            </a:pPr>
            <a:r>
              <a:rPr sz="1350" b="1">
                <a:solidFill>
                  <a:srgbClr val="B9D7DC"/>
                </a:solidFill>
              </a:rPr>
              <a:t>資材部｜資材課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B88B6-185F-44BE-9241-1EE5BC9D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進出貨與倉儲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作業流程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97CB-B728-4646-B7B9-C12067D4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7EA"/>
                </a:solidFill>
              </a:defRPr>
            </a:pPr>
            <a:r>
              <a:rPr sz="1800" b="0">
                <a:solidFill>
                  <a:srgbClr val="D9E7EA"/>
                </a:solidFill>
              </a:rPr>
              <a:t>作業管制、品質防呆與資訊化管理架構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D88FB-2FF1-4AFD-BAE5-786730D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762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A455B"/>
          </a:solidFill>
          <a:ln xmlns:a="http://schemas.openxmlformats.org/drawingml/2006/main" w="9525">
            <a:solidFill>
              <a:srgbClr val="2D64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76FF4-135C-43B2-AF05-4FF036B3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INBOUND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CA887-42D3-4F47-AF1E-6AEB5E43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146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58B3A"/>
                </a:solidFill>
              </a:defRPr>
            </a:pPr>
            <a:r>
              <a:rPr sz="31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F2A11-7939-42C4-81B0-DAF1F24B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E8566-DD97-4B6E-8B81-5B974491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99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58B3A"/>
                </a:solidFill>
              </a:defRPr>
            </a:pPr>
            <a:r>
              <a:rPr sz="31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2BF1D-0D48-4333-93AA-C04E985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D5CB"/>
                </a:solidFill>
              </a:defRPr>
            </a:pPr>
            <a:r>
              <a:rPr sz="1350" b="1">
                <a:solidFill>
                  <a:srgbClr val="9AD5CB"/>
                </a:solidFill>
              </a:rPr>
              <a:t>OUTBOUND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2758C-A803-4916-851F-195E3F7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38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9D7DC"/>
                </a:solidFill>
              </a:defRPr>
            </a:pPr>
            <a:r>
              <a:rPr sz="1050" b="0">
                <a:solidFill>
                  <a:srgbClr val="B9D7DC"/>
                </a:solidFill>
              </a:rPr>
              <a:t>2026/09/10　｜　報告人：陳世偉</a:t>
            </a:r>
          </a:p>
        </p:txBody>
      </p:sp>
    </p:spTree>
    <p:extLst>
      <p:ext uri="{BB962C8B-B14F-4D97-AF65-F5344CB8AC3E}">
        <p14:creationId xmlns:p14="http://schemas.microsoft.com/office/powerpoint/2010/main" val="1685257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C2444-30E3-428D-B8AB-4560F2B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01｜職責範圍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367CB-FA6F-4547-8FBE-B95FD7D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資材課的任務，是讓物料安全、正確、可追溯地流動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57908-D6B7-4952-80CF-BDEB6D0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55B0A-0EEA-4162-843C-CFFDF25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BB5F8-A1C7-47B4-9DAB-B9D5623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資材部共 32 人，資材課串接進料、倉儲、灌裝與出貨，並與品管及製程協作。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69E70-BDD0-4F7D-BB0A-65512B25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7B876-E0A3-4AAC-A8FB-5A7C2365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資材部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279F6-8286-4E8C-B0E5-475420B6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D7DC"/>
                </a:solidFill>
              </a:defRPr>
            </a:pPr>
            <a:r>
              <a:rPr sz="1800" b="0">
                <a:solidFill>
                  <a:srgbClr val="B9D7DC"/>
                </a:solidFill>
              </a:rPr>
              <a:t>共 32 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1762E-A871-4273-992B-09598B49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林昭安｜副理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677B1-93E7-45EC-9BB4-9E230D3C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EA"/>
                </a:solidFill>
              </a:defRPr>
            </a:pPr>
            <a:r>
              <a:rPr sz="1350" b="0">
                <a:solidFill>
                  <a:srgbClr val="D9E7EA"/>
                </a:solidFill>
              </a:rPr>
              <a:t>陳陸陣｜高級工程師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1D445-A683-44DF-ABB7-4EA288EF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68389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584AA-1172-42C3-AFB9-187B2920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7"/>
                </a:solidFill>
              </a:defRPr>
            </a:pPr>
            <a:r>
              <a:rPr sz="1950" b="1">
                <a:solidFill>
                  <a:srgbClr val="123047"/>
                </a:solidFill>
              </a:rPr>
              <a:t>資材課與現場單位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DE7FF-0179-453E-AA58-FE5F4B2A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19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23D5C-DA63-477D-8EFD-EB932361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陳世偉｜副課長，統籌課務與流程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059C0-EC4E-4B5A-95DF-E8EE2A8F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76650"/>
            <a:ext cx="19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E11FA-D11B-4E41-8A5A-6B356B94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7665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專員／管理師／助理管理師：日常作業與資料管理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3DA89-7C31-4F91-B262-396559B0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19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9C95"/>
                </a:solidFill>
              </a:defRPr>
            </a:pPr>
            <a:r>
              <a:rPr sz="150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622C9-81B4-464E-87C3-8777FE7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14800"/>
            <a:ext cx="567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彰濱一廠、二廠：各組長帶領現場執行人員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E3489-EE78-4659-94DB-E649FA0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612335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02098D-7F95-4EB4-B861-9BBF2677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02｜全流程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1A156-55D8-45EF-9C9F-6D7B5540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三個作業階段，形成一條可追溯的物料鏈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66682-EB15-4F9D-85E5-61648719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F76EE-1C3A-40BA-AFAD-BEF50D24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F55F5-D642-4328-A1F9-04784E0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每一階段都有明確的安全、品質與庫存控制點，最後回寫 ERP／MES。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A821C-6253-412B-8149-B5BA140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242AD-B368-4AD3-8E88-BD28451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E2CA0-399C-4CFC-A7FF-28F769B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 進貨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827E2-A87B-4E7A-BE2E-B6602A9F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Inbound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6070B-6791-41DC-B5C9-A61DC20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A5DF7-63CF-45BB-99DE-E50F2931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槽車：單據／接地／取樣／卸料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56D5A-F290-4FF4-A86C-69C6BE0E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196A9-EE4E-4FD4-8992-F196482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包材：品名／數量／外觀／棧板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2927C-71D2-4976-8ED5-961A3752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58B3A"/>
                </a:solidFill>
              </a:defRPr>
            </a:pPr>
            <a:r>
              <a:rPr sz="28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0BD4F-7181-4990-AB1F-772E716E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63496-F13A-4417-8D95-0DE3AA0D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52701-4432-4799-A1ED-97F47AC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 儲存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0D492-75AD-4B7A-B085-0638A3BE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71775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Storage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B9764-5870-45DD-B839-31290A8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45761-6F8C-476C-9888-99FF6ECA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05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槽區：液位／壓力／溫控／耗材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22A51-BBB7-4D75-A99E-6CEB9C7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EF3A4-1C58-46AC-A107-FC9E842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86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包材：環境／FIFO／堆疊／標示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661F4-926E-4AE7-BB66-E0E11993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33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58B3A"/>
                </a:solidFill>
              </a:defRPr>
            </a:pPr>
            <a:r>
              <a:rPr sz="2850" b="1">
                <a:solidFill>
                  <a:srgbClr val="E58B3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B74BF-0D08-4A6A-8E8A-262B5B17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1569E-E34A-4ED7-A24F-FBE55509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3143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58B3A"/>
          </a:solidFill>
          <a:ln xmlns:a="http://schemas.openxmlformats.org/drawingml/2006/main" w="9525">
            <a:solidFill>
              <a:srgbClr val="E58B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9986F-39C0-471F-A479-B9532E29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 出貨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46214-F6E8-4625-B57E-57718FF7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Outbound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54BFD-8F57-44DB-AB19-AB19290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69F9F-EEC9-471B-A6CC-6608EF6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05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槽車：清潔／Flush／灌裝／封籤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0D062-0EE8-4E96-965F-C2F7526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6A3E43-9283-49F2-BCBB-A986560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包材：空桶／重量／裝櫃核對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BFC0E-99DB-4D16-ABDB-53C55BD3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76900"/>
            <a:ext cx="5676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797A4-1973-4108-82A5-7284EE97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721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ERP／MES　→　自動化單據、庫存異動與稽核紀錄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E86F3-B5A6-42DD-8AC8-FA683ADA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231805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1888A8-DB1E-4724-BA2C-BD7AA329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03｜進貨作業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0857-64D3-4E9D-9D38-577D3F5F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進貨先確認「對不對、安不安全、能不能接收」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4F82D-7349-4BC9-B250-2BF3867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21C3D-B002-49F5-9E9C-B5E8F91F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82D0A-F620-4D09-813A-53504C42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EA9DC-C933-4D3B-86E5-2800930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2A8B1-B983-4429-962A-E9B8273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散裝槽車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9EFE5-2EAF-44C2-B23E-4A3C1FDF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槽車卸料防呆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C3857-83B8-44BF-94D1-2563BA0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D8532-7B5D-4F8B-BB2F-15CC747F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單據與槽別、品名核對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A2E40-68FD-416E-A1E6-D27D36A1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A66E2-11AC-469A-BE2B-E8EE09E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輪檔定位；防靜電接地 &lt; 10Ω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DA9AD-4EFE-4EE0-9C22-87FE153F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7D8CF-8076-4097-BC4B-349D4BF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品管取樣合格後才可接管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5FE38-1D06-4A1E-90DB-BE4F408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A63D1-EB6A-4043-BB96-B2C7659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卸料完成後氮氣壓空與洩壓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B7E32-263F-40B4-A6CB-0BF764C2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62922-E8EB-4A71-B420-130F255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BB73D-2BE8-433D-8DD0-81133ED2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7247C-A6E5-40A9-A972-B319165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90775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200L／1T／Pails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24937-5DE3-4D00-BC68-D095BD3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99548-4041-4B98-A6BC-E37E30FF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入廠核對品名與數量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23663-DEE8-4D15-91D3-66A81715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E35D7-AE07-40F2-B2E5-181E15A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檢查破損與清潔度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7D83B-0649-43DB-8913-D4C595F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F429E-D72E-4DE3-856A-0DBC2142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86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確認棧板完整性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18DBD-7FFC-4D73-91CA-AE07AEF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67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F4DE6-D416-4F96-A2E5-D0F18F9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67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不符合項目隔離並回報處理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EFA5C-490B-42C2-B36D-76B8914E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0C99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01F3B3-2405-43AC-9441-F30FB6E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65A22"/>
                </a:solidFill>
              </a:defRPr>
            </a:pPr>
            <a:r>
              <a:rPr sz="1650" b="1">
                <a:solidFill>
                  <a:srgbClr val="965A22"/>
                </a:solidFill>
              </a:rPr>
              <a:t>進貨放行條件：單據一致＋安全條件完成＋品管確認合格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FD1F1-918B-4E1F-B2B9-D3D189B9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1298972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E39DC8-DDF0-4486-82A5-C680859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04｜儲存管制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E2596-3208-4599-88FF-0360AE51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儲存管理的核心，是維持品質穩定並讓庫存先進先出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2595E-684B-4B4C-A494-18688D5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95A5F-8DC7-4046-B546-C6559EF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A8429-B175-4952-832A-7A60C3D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8C574-2FD5-4FBC-80DC-CB09663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E29D-81BC-4658-9837-49F98B45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散裝儲槽管理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477A3-976F-4657-BB86-680207A0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設備與製程條件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BE30D-E821-4050-A725-77F74266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E5169-0651-493C-B07A-01038D2F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每日巡檢液位、壓力與異常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B9952-C9CC-47A6-8287-A2E5D29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6DFCA-D9AC-40C7-BAC7-8EA878B4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GAA 氣溫低於 16°C 啟動保溫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61AF2-041B-417F-99FF-B17E1662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9471C-362E-4DA6-9B14-A2AB879E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過濾袋壓差 &gt; 2 kg/cm² 或滿一年更換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56519-3217-4A7C-963B-226BE1F5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DC019-51C6-4B2B-8038-9B26B4B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97579-BB6C-4C48-BA00-913D874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小包材庫存管理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99F00-C133-46D2-9421-CE6998B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90775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環境與堆放條件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30A18-E855-467F-8F53-1EC839ED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5F234-05B1-4C2B-A43D-6F39376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巡檢溫濕度與通風條件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9CBDA-392C-4A3B-89DE-8B21A9C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562A5-695D-42B6-9BB9-26E668B4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落實 FIFO（先進先出）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F3858-53F6-47A9-945A-42F74158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3F900-5495-475E-9FF3-85CC0B5A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86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規範堆疊高度、傾倒防護與入庫標示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3C493C-0156-4D72-845D-CD09F2F6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B7DD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A57FC8-093D-487A-B7B3-8F72379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B67"/>
                </a:solidFill>
              </a:defRPr>
            </a:pPr>
            <a:r>
              <a:rPr sz="1650" b="1">
                <a:solidFill>
                  <a:srgbClr val="256B67"/>
                </a:solidFill>
              </a:rPr>
              <a:t>巡檢結果要能被記錄、追蹤，才能支援定檢與庫存盤點。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6B4A6-CBB5-45B7-AE0A-067CDB6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987115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8F2D4-F2D5-4158-89EC-4D92AF60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05｜出貨灌裝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A45D2-02C2-4CFE-9055-004FF2B7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出貨以「純度、重量、封裝與現場安全」作為放行底線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456D5-E23F-483D-BE2A-1F46763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FD3B8-2A2A-4498-AFE6-B2336B58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E60C5-E010-494C-9AC4-C555D23A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CFB5C-DA1B-42FF-986E-078D6B2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48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58B3A"/>
          </a:solidFill>
          <a:ln xmlns:a="http://schemas.openxmlformats.org/drawingml/2006/main" w="9525">
            <a:solidFill>
              <a:srgbClr val="E58B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504B3-904C-4CD5-9D4E-6AE8599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散裝與 ISO TANK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AF41A-17F7-4E2F-883B-350CDF6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59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灌裝全程管制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FAD6C-0803-45F5-ADF1-5ED9301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825C64-2C66-4A61-B42F-090D343A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出廠安檢：內部與外觀清潔度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381B2-17CD-4C0C-8E4F-9989253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33F2F-DD87-433A-8BB7-303B563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灌裝前 Flush：工業級 40L／電子級 200L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A4A42-8147-4300-86D3-6C36A66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17E82-3BB7-45E2-B2F8-4F933FA7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EBR 預先攪拌；操作員不得離場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5F674-7E8C-4D15-ABC2-068FD0A0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7E5F6-94BC-47BC-BC20-24E09953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氮氣壓空、洩壓並加防偽封籤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F4B30-6721-4C83-9FF6-62773380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D4696-C159-4501-B8A6-9ED108B2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506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283B8B-2A94-43B6-A6D2-4B7CBB08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61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小包材灌裝出貨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077FF-DB0E-4ECB-A2AF-3B101223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90775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包裝與裝櫃管制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E5783-ECC6-48A6-8E92-38CE06F6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91D86-F68D-4A34-ACD4-E43DCE2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空桶內部清潔度抽檢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F4362-3CC3-48E6-99CB-B2A6F157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05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5E3F5-E959-48B9-88DE-1F494232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05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灌裝重量與液位嚴格檢核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4BC61-407F-4F1E-A0AB-98A35FB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C95"/>
                </a:solidFill>
              </a:defRPr>
            </a:pPr>
            <a:r>
              <a:rPr sz="1350" b="1">
                <a:solidFill>
                  <a:srgbClr val="2B9C95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9D94A-D96A-4901-B37F-AB374DA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86175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3F"/>
                </a:solidFill>
              </a:defRPr>
            </a:pPr>
            <a:r>
              <a:rPr sz="1350" b="0">
                <a:solidFill>
                  <a:srgbClr val="18323F"/>
                </a:solidFill>
              </a:rPr>
              <a:t>封蓋、標示、裝櫃與疊板核對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30FD8-71C2-4027-AB0F-15E3AEEB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0C99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218424-5DAC-4553-A894-9E445B22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65A22"/>
                </a:solidFill>
              </a:defRPr>
            </a:pPr>
            <a:r>
              <a:rPr sz="1650" b="1">
                <a:solidFill>
                  <a:srgbClr val="965A22"/>
                </a:solidFill>
              </a:rPr>
              <a:t>出貨放行條件：清潔確認＋灌裝數據正確＋封裝與裝櫃完成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5536A-23C6-4E80-94A9-F2BC08E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1428656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7B5691-E0C7-4271-B0D4-D408390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C95"/>
                </a:solidFill>
              </a:defRPr>
            </a:pPr>
            <a:r>
              <a:rPr sz="1050" b="1">
                <a:solidFill>
                  <a:srgbClr val="2B9C95"/>
                </a:solidFill>
              </a:rPr>
              <a:t>06｜管制重點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41AC9-87F2-45F5-AEF4-66112EC0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把關鍵動作標準化，才能降低人為疏漏與品質風險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73BDB-C021-49F0-94C9-FCE9FE07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04EC1-CCA5-49D5-9C66-16657B6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47E"/>
                </a:solidFill>
              </a:defRPr>
            </a:pPr>
            <a:r>
              <a:rPr sz="1050" b="1">
                <a:solidFill>
                  <a:srgbClr val="5F747E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B6D9D-97BC-4A81-9B4C-28D95D0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47E"/>
                </a:solidFill>
              </a:defRPr>
            </a:pPr>
            <a:r>
              <a:rPr sz="1650" b="0">
                <a:solidFill>
                  <a:srgbClr val="5F747E"/>
                </a:solidFill>
              </a:rPr>
              <a:t>四個控制面向共同支撐進出貨與倉儲流程：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1FEC9-FA6D-4669-97EC-91B0C39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CE9A1-EAF7-4380-8D60-DBE4AB12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安全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B3F85-1BDA-457A-B2BE-36A63A7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43125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1FBEC-C5E1-4A4A-8849-CDC4C7B8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95525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定位、接地、壓空洩壓、全程監控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FB29A-63FF-42D5-91DC-6D60A7F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43125"/>
            <a:ext cx="3676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2"/>
          </a:solidFill>
          <a:ln xmlns:a="http://schemas.openxmlformats.org/drawingml/2006/main" w="9525">
            <a:solidFill>
              <a:srgbClr val="D5E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93631-559D-4C9F-B54F-FD6FD30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955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避免人員與設備事故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F2BBB-EC6F-4F99-9DCB-BC1F41E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8A9E6-727D-4311-BEC0-305ACCD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品質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1A4F3-2499-4573-B7E1-18978655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81325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B113A-7CC5-4D0D-A4F9-903AB93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取樣合格、清潔度、Flush、重量液位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C0113-79C9-4F35-AF06-D29EE70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81325"/>
            <a:ext cx="3676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2"/>
          </a:solidFill>
          <a:ln xmlns:a="http://schemas.openxmlformats.org/drawingml/2006/main" w="9525">
            <a:solidFill>
              <a:srgbClr val="D5E1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EB63B-FEAA-4C76-87FD-128A25D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33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避免污染與規格偏差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AA543-8FA4-498A-8C79-45B1842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9525">
            <a:solidFill>
              <a:srgbClr val="1F6F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ABB3C-712B-4560-9294-02B3ACC7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庫存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A2151-5693-4184-BDD1-E0C42BC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9525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DFD7E-494D-4E02-8654-B830255A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1925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ERP／MES、FIFO、盤點、異動紀錄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EE841-78CA-485E-9FAC-1E8C610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9525"/>
            <a:ext cx="3676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2"/>
          </a:solidFill>
          <a:ln xmlns:a="http://schemas.openxmlformats.org/drawingml/2006/main" w="9525">
            <a:solidFill>
              <a:srgbClr val="D5E1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DB038-6DCC-4F2B-B3C3-4A741ECB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確保數量與批次可追溯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C2E57-40D5-4171-8862-C9F12D5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B9C95"/>
          </a:solidFill>
          <a:ln xmlns:a="http://schemas.openxmlformats.org/drawingml/2006/main" w="9525">
            <a:solidFill>
              <a:srgbClr val="2B9C9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D1AEC7-C35E-42AB-BA0A-DF741C0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防呆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A1189-02CA-414A-A4DF-EA65F498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57725"/>
            <a:ext cx="495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D1595-854E-47FD-BC3E-16BA446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10125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3F"/>
                </a:solidFill>
              </a:defRPr>
            </a:pPr>
            <a:r>
              <a:rPr sz="1500" b="0">
                <a:solidFill>
                  <a:srgbClr val="18323F"/>
                </a:solidFill>
              </a:rPr>
              <a:t>SOP、雙人核對、標示、封籤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FCA7B-6854-4D68-9238-000D40A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57725"/>
            <a:ext cx="3676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2"/>
          </a:solidFill>
          <a:ln xmlns:a="http://schemas.openxmlformats.org/drawingml/2006/main" w="9525">
            <a:solidFill>
              <a:srgbClr val="D5E1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2F0CC-D823-4414-8E24-330BF6C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7"/>
                </a:solidFill>
              </a:defRPr>
            </a:pPr>
            <a:r>
              <a:rPr sz="1500" b="1">
                <a:solidFill>
                  <a:srgbClr val="123047"/>
                </a:solidFill>
              </a:rPr>
              <a:t>把錯誤攔在放行之前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F656E-2891-4ABC-8F33-972629D9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747E"/>
                </a:solidFill>
              </a:defRPr>
            </a:pPr>
            <a:r>
              <a:rPr sz="825" b="0">
                <a:solidFill>
                  <a:srgbClr val="5F747E"/>
                </a:solidFill>
              </a:rPr>
              <a:t>資材部｜資材課　進出貨與倉儲作業流程</a:t>
            </a:r>
          </a:p>
        </p:txBody>
      </p:sp>
    </p:spTree>
    <p:extLst>
      <p:ext uri="{BB962C8B-B14F-4D97-AF65-F5344CB8AC3E}">
        <p14:creationId xmlns:p14="http://schemas.microsoft.com/office/powerpoint/2010/main" val="2045916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E9C15-D216-425A-9DA8-F6BB59E0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D5CB"/>
                </a:solidFill>
              </a:defRPr>
            </a:pPr>
            <a:r>
              <a:rPr sz="1125" b="1">
                <a:solidFill>
                  <a:srgbClr val="9AD5CB"/>
                </a:solidFill>
              </a:rPr>
              <a:t>07｜現況與後續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42C11-7B23-4EAF-A9C8-A2F7D77F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下一步：讓現場標準，變成系統紀錄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3FE53-BD01-4887-9FDE-BAA87C6D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7EA"/>
                </a:solidFill>
              </a:defRPr>
            </a:pPr>
            <a:r>
              <a:rPr sz="1650" b="0">
                <a:solidFill>
                  <a:srgbClr val="D9E7EA"/>
                </a:solidFill>
              </a:rPr>
              <a:t>目前已建立 SOP、安全防呆與品管連動；後續以資訊化與訓練，讓流程更即時、更可追溯。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42DB2-A6B9-4946-9C30-DA4671C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455B"/>
          </a:solidFill>
          <a:ln xmlns:a="http://schemas.openxmlformats.org/drawingml/2006/main" w="9525">
            <a:solidFill>
              <a:srgbClr val="2D64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F9D8-C854-4767-B46D-4ACCAC8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資訊化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9965D-DC5A-4EC9-90E5-4FAF7DB6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逐步汰換紙本，導入 ERP／PDA 即時查驗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A022B-D8BA-4B8A-A984-79D9F96A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455B"/>
          </a:solidFill>
          <a:ln xmlns:a="http://schemas.openxmlformats.org/drawingml/2006/main" w="9525">
            <a:solidFill>
              <a:srgbClr val="2D64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3979E-FE2F-45E6-A04F-95474F4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訓練防呆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DACBD-1E44-48AE-B60F-662D05B3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持續落實 SOP、雙人核對與全程監控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74426-F53E-4598-A0FB-2888E12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455B"/>
          </a:solidFill>
          <a:ln xmlns:a="http://schemas.openxmlformats.org/drawingml/2006/main" w="9525">
            <a:solidFill>
              <a:srgbClr val="2D64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718F1-18FB-4AD0-8825-E70527E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19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8B3A"/>
                </a:solidFill>
              </a:defRPr>
            </a:pPr>
            <a:r>
              <a:rPr sz="1875" b="1">
                <a:solidFill>
                  <a:srgbClr val="E58B3A"/>
                </a:solidFill>
              </a:rPr>
              <a:t>安全品質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54614-9435-43A9-BA49-C519201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647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強化高處防護、溫控與 IQC／IPQC／FQC 連動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164C-BC2B-4EEA-AAC7-F1C73484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A89"/>
          </a:solidFill>
          <a:ln xmlns:a="http://schemas.openxmlformats.org/drawingml/2006/main" w="9525">
            <a:solidFill>
              <a:srgbClr val="4C7A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1A62C-D103-4B2D-A51C-E0EE9C8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核心目標：安全作業、品質穩定、庫存正確、全程可追溯。</a:t>
            </a:r>
          </a:p>
        </p:txBody>
      </p:sp>
    </p:spTree>
    <p:extLst>
      <p:ext uri="{BB962C8B-B14F-4D97-AF65-F5344CB8AC3E}">
        <p14:creationId xmlns:p14="http://schemas.microsoft.com/office/powerpoint/2010/main" val="504345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2026-09-03T00:55:07.9420000Z</dcterms:created>
  <dcterms:modified xsi:type="dcterms:W3CDTF">2026-09-03T00:55:07.9420000Z</dcterms:modified>
</coreProperties>
</file>