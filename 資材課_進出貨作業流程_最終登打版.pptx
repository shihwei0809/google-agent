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17"/>
    <p:sldId id="257" r:id="rId18"/>
    <p:sldId id="258" r:id="rId19"/>
    <p:sldId id="259" r:id="rId20"/>
    <p:sldId id="260" r:id="rId21"/>
  </p:sldIdLst>
  <p:sldSz cx="12191695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71ECE5-6601-4984-AF01-5B219B6E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按一下以編輯母片標題樣式</a:t>
            </a:r>
            <a:endParaRPr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9B06DBE-C3E4-444F-B272-3B7429F95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按一下以編輯母片副標題樣式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27E460-63E1-4779-8567-3DFE8B8F7C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F0E2BD-DA07-42B2-882F-907735DC1DD5}" type="datetime1">
              <a:t>2026/8/27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7A6F43-B8FD-415B-B6E0-D85AE4B442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BA0AF7-CAEC-492D-922C-CE7C85E896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8E6B9-3009-4E32-B5E2-5703B5F8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  <a:endParaRPr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DBC2C8-2A23-4FF6-9F7D-73C14B02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6F0645-CDF5-4704-81B4-2D23ADEE01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95A2B33-1190-459C-B609-723B91460C0B}" type="datetime1">
              <a:t>2026/8/27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4EEAD1-2401-4F13-BCD3-5E7E4896E8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B8D10A-F593-4588-9BC2-EABD51B204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8C572C-7F72-42DD-A203-DBE842CF4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按一下以編輯母片標題樣式</a:t>
            </a:r>
            <a:endParaRPr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1A2C62-5032-4A2F-A0C7-29A116313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BAED3-09B3-438A-B285-086C7E4EE3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A6A0F5-FC40-4D6B-BC54-7E44B6EFADBF}" type="datetime1">
              <a:t>2026/8/27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638897-5A87-47A9-9499-F54B2EF790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54E8F7-97DD-4C17-A120-01AE84B5F1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DB2B66-1B12-4F4F-83ED-B9222A99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  <a:endParaRPr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3D989A-1F0B-4764-9027-F6170A5DA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47A98E-C8F2-4B4C-B55C-95A666499A3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B467AB-97B7-44E5-A712-DBA3FD14F5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0C1BD43-3209-4293-A47D-772B0A5539F8}" type="datetime1">
              <a:t>2026/8/27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DCF84C-6050-48EF-8A98-C57ECD740B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A6A5D8-0040-417D-8CA1-A4516CFFF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1E333-8DA0-4083-87DE-F875FFB8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按一下以編輯母片標題樣式</a:t>
            </a:r>
            <a:endParaRPr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3EBB21-D3A4-44BE-843F-3CFB3163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E00AD3-E7D7-4143-93BC-72E9BA27F13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55E61F7-CBB8-4F4D-A5F8-B036F5011F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EA3043E-9D44-44D4-B44A-704F950B544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0100148-2786-4808-9CEC-4748C62826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1E779EE-1948-4B83-A22E-8156CA0EAE86}" type="datetime1">
              <a:t>2026/8/27</a:t>
            </a:fld>
            <a:endParaRPr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C63105E-92C0-40F5-A704-928817241E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E75E6D-D0ED-40E8-BB32-4907CA874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D06EEC-8854-4C35-94F4-2D9A7978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  <a:endParaRPr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85DF8EE-EC83-4B65-BD71-56808D802A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5DD186-5C66-416D-9624-8DD335D29764}" type="datetime1">
              <a:t>2026/8/27</a:t>
            </a:fld>
            <a:endParaRPr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0586C20-EE31-4D34-BA30-2FF3CD32BB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552DEEE-A91F-4FD3-BB57-6F1BD08455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6769EEB-D875-46CF-9571-711D7D5AD4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255725-B9CD-4E00-AED3-51A811D8B477}" type="datetime1">
              <a:t>2026/8/27</a:t>
            </a:fld>
            <a:endParaRPr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6C5A37-C73D-4930-AAC2-51DA84C15A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1012B5-F39F-46BE-BE5D-479325038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A60B71-A2EF-49D9-9E85-31947589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按一下以編輯母片標題樣式</a:t>
            </a:r>
            <a:endParaRPr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6F4B95-59B2-4A9F-A03F-01AC45D40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2C53DE5-3D7A-4980-8D76-E0E69B1659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3105AB-8F86-4F77-879D-5A1C9383C4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ADEE08-ED98-432A-AA2B-CD6FA8A97BC3}" type="datetime1">
              <a:t>2026/8/27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33DF4D-1BE1-4504-8A19-BC68EB6DEA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46D6EF-75F1-40CA-87FA-925DE847E7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CC2148-D01D-46DD-917F-C876E469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按一下以編輯母片標題樣式</a:t>
            </a:r>
            <a:endParaRPr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1475418-38D3-411E-8F76-64734629F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30D97A-B27F-460A-A706-EF94EA0D30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DFE330-4ED2-48A8-AE82-64BD20B73F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BC48B4-B8DD-4DBD-87F1-35894283269C}" type="datetime1">
              <a:t>2026/8/27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2B5E71-6CEA-41AB-9667-2623CFD7CE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C9FFFB-5891-41DA-BDC7-9003088C53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90B203-AC42-4E19-91EA-5C79E71A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  <a:endParaRPr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DE6BC0B-3B23-4432-8DAC-40B4DFE9C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DE144C-012E-4B0E-89EC-EC3D2920F0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9AD919F-2653-4D18-A862-27196B70C4DB}" type="datetime1">
              <a:t>2026/8/27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09415A-C925-4B7B-9F20-427BE21CCF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AAC4E7-4C47-4E37-A5C0-002BF406E7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6C754C1-842A-45C9-84D5-D4490D04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按一下以編輯母片標題樣式</a:t>
            </a:r>
            <a:endParaRPr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05FCD9-1C3E-4E03-9A62-92560D1F7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A1B8-96D5-47AF-8E7B-D75AC22FD6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BD5611-DC3E-4C86-A618-14433A96C23C}" type="datetime1">
              <a:t>2026/8/27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1B07FC-0D30-48BD-9814-F0187DB910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88A59C-FE42-46F7-99A0-5FFAC8E06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B4E5B6D-71F1-49B9-AF1C-3C383841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  <a:endParaRPr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83800B-6CCB-445E-AC05-A1949953F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01A7D9-8CE6-42AD-963D-E2E56BABEE6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00233-2C7F-406B-ACB7-9A8129A067CB}" type="datetime1">
              <a:t>2026/8/27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ADAD58-3773-4FD0-B392-70747FA6D3F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F51581-A9CA-4D66-BF20-6B7AF5A2C45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CDDC8-8DD5-4BFD-B00C-8EDC23D94F41}" type="slidenum">
              <a:t>‹#›</a:t>
            </a:fld>
            <a:endParaRPr/>
          </a:p>
        </p:txBody>
      </p:sp>
      <p:pic>
        <p:nvPicPr>
          <p:cNvPr id="19" name="圖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36396" y="123030"/>
            <a:ext cx="1007704" cy="862012"/>
          </a:xfrm>
          <a:prstGeom prst="rect">
            <a:avLst/>
          </a:prstGeom>
        </p:spPr>
      </p:pic>
      <p:pic>
        <p:nvPicPr>
          <p:cNvPr id="20" name="Picture 1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9944100" y="404813"/>
            <a:ext cx="1738313" cy="303212"/>
          </a:xfrm>
          <a:prstGeom prst="rect">
            <a:avLst/>
          </a:prstGeom>
          <a:ln>
            <a:noFill/>
          </a:ln>
        </p:spPr>
      </p:pic>
      <p:sp>
        <p:nvSpPr>
          <p:cNvPr id="11" name="Line 5">
            <a:extLst>
              <a:ext uri="{FF2B5EF4-FFF2-40B4-BE49-F238E27FC236}">
                <a16:creationId xmlns:a16="http://schemas.microsoft.com/office/drawing/2014/main" id="{53F877BF-D155-41A3-B7C0-C84B049320AC}"/>
              </a:ext>
            </a:extLst>
          </p:cNvPr>
          <p:cNvSpPr>
            <a:spLocks noGrp="1"/>
          </p:cNvSpPr>
          <p:nvPr/>
        </p:nvSpPr>
        <p:spPr>
          <a:xfrm>
            <a:off x="559293" y="958788"/>
            <a:ext cx="11304345" cy="3477"/>
          </a:xfrm>
          <a:prstGeom prst="line">
            <a:avLst/>
          </a:prstGeom>
          <a:noFill/>
          <a:ln w="3175">
            <a:solidFill>
              <a:srgbClr val="003300"/>
            </a:solidFill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資材部</a:t>
            </a:r>
          </a:p>
          <a:p>
            <a:r>
              <a:t>資材課簡介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報告人：陳世偉</a:t>
            </a:r>
          </a:p>
          <a:p>
            <a:r>
              <a:t>日期：2026/09/10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資材部</a:t>
            </a:r>
          </a:p>
          <a:p>
            <a:r>
              <a:t>資材課簡介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報告人：陳世偉</a:t>
            </a:r>
          </a:p>
          <a:p>
            <a:r>
              <a:t>日期：2026/09/10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簡報大綱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部門現況 (組織編制與人力分配)</a:t>
            </a:r>
          </a:p>
          <a:p/>
          <a:p>
            <a:r>
              <a:t>2. 進出貨作業流程</a:t>
            </a:r>
          </a:p>
          <a:p/>
          <a:p>
            <a:r>
              <a:t>3. 目前概況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簡報大綱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部門現況 (組織編制與人力分配)</a:t>
            </a:r>
          </a:p>
          <a:p/>
          <a:p>
            <a:r>
              <a:t>2. 進出貨作業流程</a:t>
            </a:r>
          </a:p>
          <a:p/>
          <a:p>
            <a:r>
              <a:t>3. 目前概況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部門現況 (組織編制與人力分配)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資材部(共32人) - 林昭安 副理</a:t>
            </a:r>
          </a:p>
          <a:p>
            <a:r>
              <a:t>    • 陳陸陣 高級工程師</a:t>
            </a:r>
          </a:p>
          <a:p>
            <a:r>
              <a:t>    • 陳世偉 副課長</a:t>
            </a:r>
          </a:p>
          <a:p>
            <a:r>
              <a:t>        - 郭育綾 專員, 黃玟寧 副管理師, 趙令融 助理管理師</a:t>
            </a:r>
          </a:p>
          <a:p>
            <a:r>
              <a:t>        - 彰濱一廠：黃俊翰 組長 及其他11人</a:t>
            </a:r>
          </a:p>
          <a:p>
            <a:r>
              <a:t>        - 彰濱一廠：陳彥志 組長 及其他6人</a:t>
            </a:r>
          </a:p>
          <a:p>
            <a:r>
              <a:t>        - 彰濱二廠：張立杰 組長 及其他3人</a:t>
            </a:r>
          </a:p>
          <a:p>
            <a:r>
              <a:t>        - 彰濱二廠：黃宏吉 組長 及其他3人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部門現況 (組織編制與人力分配)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資材部(共32人) - 林昭安 副理</a:t>
            </a:r>
          </a:p>
          <a:p>
            <a:r>
              <a:t>    • 陳陸陣 高級工程師</a:t>
            </a:r>
          </a:p>
          <a:p>
            <a:r>
              <a:t>    • 陳世偉 副課長</a:t>
            </a:r>
          </a:p>
          <a:p>
            <a:r>
              <a:t>        - 郭育綾 專員, 黃玟寧 副管理師, 趙令融 助理管理師</a:t>
            </a:r>
          </a:p>
          <a:p>
            <a:r>
              <a:t>        - 彰濱一廠：黃俊翰 組長 及其他11人</a:t>
            </a:r>
          </a:p>
          <a:p>
            <a:r>
              <a:t>        - 彰濱一廠：陳彥志 組長 及其他6人</a:t>
            </a:r>
          </a:p>
          <a:p>
            <a:r>
              <a:t>        - 彰濱二廠：張立杰 組長 及其他3人</a:t>
            </a:r>
          </a:p>
          <a:p>
            <a:r>
              <a:t>        - 彰濱二廠：黃宏吉 組長 及其他3人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2. 進出貨作業流程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468880"/>
              </a:tblGrid>
              <a:tr h="137160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進貨作業管制</a:t>
                      </a:r>
                    </a:p>
                    <a:p>
                      <a:pPr>
                        <a:defRPr sz="1800" b="1"/>
                      </a:pPr>
                      <a:r>
                        <a:t>(Inbound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1. 單據與槽別核對</a:t>
                      </a:r>
                    </a:p>
                    <a:p>
                      <a:pPr>
                        <a:defRPr sz="1800" b="1"/>
                      </a:pPr>
                      <a:r>
                        <a:t>2. 安全定位與接地 (&lt;10Ω)</a:t>
                      </a:r>
                    </a:p>
                    <a:p>
                      <a:pPr>
                        <a:defRPr sz="1800" b="1"/>
                      </a:pPr>
                      <a:r>
                        <a:t>3. 品管取樣合格確認</a:t>
                      </a:r>
                    </a:p>
                    <a:p>
                      <a:pPr>
                        <a:defRPr sz="1800" b="1"/>
                      </a:pPr>
                      <a:r>
                        <a:t>4. 卸料與排空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1. 品名與數量核對</a:t>
                      </a:r>
                    </a:p>
                    <a:p>
                      <a:pPr>
                        <a:defRPr sz="1800" b="1"/>
                      </a:pPr>
                      <a:r>
                        <a:t>2. 破損與清潔度檢查</a:t>
                      </a:r>
                    </a:p>
                    <a:p>
                      <a:pPr>
                        <a:defRPr sz="1800" b="1"/>
                      </a:pPr>
                      <a:r>
                        <a:t>3. 棧板完整性確認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資材系統</a:t>
                      </a:r>
                    </a:p>
                    <a:p>
                      <a:pPr>
                        <a:defRPr sz="1800" b="1"/>
                      </a:pPr>
                      <a:r>
                        <a:t>庫存建檔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倉儲儲存管制</a:t>
                      </a:r>
                    </a:p>
                    <a:p>
                      <a:pPr>
                        <a:defRPr sz="1600"/>
                      </a:pPr>
                      <a:r>
                        <a:t>(Storage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 每日液位壓力巡檢</a:t>
                      </a:r>
                    </a:p>
                    <a:p>
                      <a:pPr>
                        <a:defRPr sz="1600"/>
                      </a:pPr>
                      <a:r>
                        <a:t>2. 溫控保溫 (GAA &lt;16°C)</a:t>
                      </a:r>
                    </a:p>
                    <a:p>
                      <a:pPr>
                        <a:defRPr sz="1600"/>
                      </a:pPr>
                      <a:r>
                        <a:t>3. 過濾袋更換監控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 溫濕度環境巡檢</a:t>
                      </a:r>
                    </a:p>
                    <a:p>
                      <a:pPr>
                        <a:defRPr sz="1600"/>
                      </a:pPr>
                      <a:r>
                        <a:t>2. 先進先出 (FIFO)</a:t>
                      </a:r>
                    </a:p>
                    <a:p>
                      <a:pPr>
                        <a:defRPr sz="1600"/>
                      </a:pPr>
                      <a:r>
                        <a:t>3. 堆疊防護與標示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定檢與</a:t>
                      </a:r>
                    </a:p>
                    <a:p>
                      <a:pPr>
                        <a:defRPr sz="1600"/>
                      </a:pPr>
                      <a:r>
                        <a:t>庫存盤點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出貨灌裝管制</a:t>
                      </a:r>
                    </a:p>
                    <a:p>
                      <a:pPr>
                        <a:defRPr sz="1600"/>
                      </a:pPr>
                      <a:r>
                        <a:t>(Outbound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 出廠安檢與清潔度檢核</a:t>
                      </a:r>
                    </a:p>
                    <a:p>
                      <a:pPr>
                        <a:defRPr sz="1600"/>
                      </a:pPr>
                      <a:r>
                        <a:t>2. 灌裝前 Flush (工業40L/電子200L)</a:t>
                      </a:r>
                    </a:p>
                    <a:p>
                      <a:pPr>
                        <a:defRPr sz="1600"/>
                      </a:pPr>
                      <a:r>
                        <a:t>3. 灌裝全程監控 (人員不離場)</a:t>
                      </a:r>
                    </a:p>
                    <a:p>
                      <a:pPr>
                        <a:defRPr sz="1600"/>
                      </a:pPr>
                      <a:r>
                        <a:t>4. 壓空洩壓與上防偽封籤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 空桶內部清潔度抽檢</a:t>
                      </a:r>
                    </a:p>
                    <a:p>
                      <a:pPr>
                        <a:defRPr sz="1600"/>
                      </a:pPr>
                      <a:r>
                        <a:t>2. 灌裝重量與液位嚴格檢核</a:t>
                      </a:r>
                    </a:p>
                    <a:p>
                      <a:pPr>
                        <a:defRPr sz="1600"/>
                      </a:pPr>
                      <a:r>
                        <a:t>3. 封蓋標示與裝櫃核對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ERP / MES</a:t>
                      </a:r>
                    </a:p>
                    <a:p>
                      <a:pPr>
                        <a:defRPr sz="1600"/>
                      </a:pPr>
                      <a:r>
                        <a:t>自動化單據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2. 進出貨作業流程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468880"/>
              </a:tblGrid>
              <a:tr h="137160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進貨作業管制</a:t>
                      </a:r>
                    </a:p>
                    <a:p>
                      <a:pPr>
                        <a:defRPr sz="1800" b="1"/>
                      </a:pPr>
                      <a:r>
                        <a:t>(Inbound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1. 單據與槽別核對</a:t>
                      </a:r>
                    </a:p>
                    <a:p>
                      <a:pPr>
                        <a:defRPr sz="1800" b="1"/>
                      </a:pPr>
                      <a:r>
                        <a:t>2. 安全定位與接地 (&lt;10Ω)</a:t>
                      </a:r>
                    </a:p>
                    <a:p>
                      <a:pPr>
                        <a:defRPr sz="1800" b="1"/>
                      </a:pPr>
                      <a:r>
                        <a:t>3. 品管取樣合格確認</a:t>
                      </a:r>
                    </a:p>
                    <a:p>
                      <a:pPr>
                        <a:defRPr sz="1800" b="1"/>
                      </a:pPr>
                      <a:r>
                        <a:t>4. 卸料與排空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1. 品名與數量核對</a:t>
                      </a:r>
                    </a:p>
                    <a:p>
                      <a:pPr>
                        <a:defRPr sz="1800" b="1"/>
                      </a:pPr>
                      <a:r>
                        <a:t>2. 破損與清潔度檢查</a:t>
                      </a:r>
                    </a:p>
                    <a:p>
                      <a:pPr>
                        <a:defRPr sz="1800" b="1"/>
                      </a:pPr>
                      <a:r>
                        <a:t>3. 棧板完整性確認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資材系統</a:t>
                      </a:r>
                    </a:p>
                    <a:p>
                      <a:pPr>
                        <a:defRPr sz="1800" b="1"/>
                      </a:pPr>
                      <a:r>
                        <a:t>庫存建檔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倉儲儲存管制</a:t>
                      </a:r>
                    </a:p>
                    <a:p>
                      <a:pPr>
                        <a:defRPr sz="1600"/>
                      </a:pPr>
                      <a:r>
                        <a:t>(Storage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 每日液位壓力巡檢</a:t>
                      </a:r>
                    </a:p>
                    <a:p>
                      <a:pPr>
                        <a:defRPr sz="1600"/>
                      </a:pPr>
                      <a:r>
                        <a:t>2. 溫控保溫 (GAA &lt;16°C)</a:t>
                      </a:r>
                    </a:p>
                    <a:p>
                      <a:pPr>
                        <a:defRPr sz="1600"/>
                      </a:pPr>
                      <a:r>
                        <a:t>3. 過濾袋更換監控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 溫濕度環境巡檢</a:t>
                      </a:r>
                    </a:p>
                    <a:p>
                      <a:pPr>
                        <a:defRPr sz="1600"/>
                      </a:pPr>
                      <a:r>
                        <a:t>2. 先進先出 (FIFO)</a:t>
                      </a:r>
                    </a:p>
                    <a:p>
                      <a:pPr>
                        <a:defRPr sz="1600"/>
                      </a:pPr>
                      <a:r>
                        <a:t>3. 堆疊防護與標示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定檢與</a:t>
                      </a:r>
                    </a:p>
                    <a:p>
                      <a:pPr>
                        <a:defRPr sz="1600"/>
                      </a:pPr>
                      <a:r>
                        <a:t>庫存盤點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出貨灌裝管制</a:t>
                      </a:r>
                    </a:p>
                    <a:p>
                      <a:pPr>
                        <a:defRPr sz="1600"/>
                      </a:pPr>
                      <a:r>
                        <a:t>(Outbound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 出廠安檢與清潔度檢核</a:t>
                      </a:r>
                    </a:p>
                    <a:p>
                      <a:pPr>
                        <a:defRPr sz="1600"/>
                      </a:pPr>
                      <a:r>
                        <a:t>2. 灌裝前 Flush (工業40L/電子200L)</a:t>
                      </a:r>
                    </a:p>
                    <a:p>
                      <a:pPr>
                        <a:defRPr sz="1600"/>
                      </a:pPr>
                      <a:r>
                        <a:t>3. 灌裝全程監控 (人員不離場)</a:t>
                      </a:r>
                    </a:p>
                    <a:p>
                      <a:pPr>
                        <a:defRPr sz="1600"/>
                      </a:pPr>
                      <a:r>
                        <a:t>4. 壓空洩壓與上防偽封籤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 空桶內部清潔度抽檢</a:t>
                      </a:r>
                    </a:p>
                    <a:p>
                      <a:pPr>
                        <a:defRPr sz="1600"/>
                      </a:pPr>
                      <a:r>
                        <a:t>2. 灌裝重量與液位嚴格檢核</a:t>
                      </a:r>
                    </a:p>
                    <a:p>
                      <a:pPr>
                        <a:defRPr sz="1600"/>
                      </a:pPr>
                      <a:r>
                        <a:t>3. 封蓋標示與裝櫃核對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ERP / MES</a:t>
                      </a:r>
                    </a:p>
                    <a:p>
                      <a:pPr>
                        <a:defRPr sz="1600"/>
                      </a:pPr>
                      <a:r>
                        <a:t>自動化單據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目前概況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資訊化管理導入：</a:t>
            </a:r>
          </a:p>
          <a:p>
            <a:r>
              <a:t>    - 逐步汰換傳統紙本，推動 ERP 與行動裝置 (PDA) 即時查驗。</a:t>
            </a:r>
          </a:p>
          <a:p>
            <a:r>
              <a:t>• 教育訓練與防呆機制：</a:t>
            </a:r>
          </a:p>
          <a:p>
            <a:r>
              <a:t>    - 持續推行標準作業流程 (SOP)，強化「雙人核對」與「全程監控」的安全文化。</a:t>
            </a:r>
          </a:p>
          <a:p>
            <a:r>
              <a:t>• 倉儲安全提升：</a:t>
            </a:r>
          </a:p>
          <a:p>
            <a:r>
              <a:t>    - 強化高處作業防護裝備配戴規範，並落實氣候溫控因應機制。</a:t>
            </a:r>
          </a:p>
          <a:p>
            <a:r>
              <a:t>• 跨部門品質連動：</a:t>
            </a:r>
          </a:p>
          <a:p>
            <a:r>
              <a:t>    - 緊密結合進料 (IQC)、製程 (IPQC) 與出貨 (FQC) 品管體系，確保品質一致性。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目前概況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資訊化管理導入：</a:t>
            </a:r>
          </a:p>
          <a:p>
            <a:r>
              <a:t>    - 逐步汰換傳統紙本，推動 ERP 與行動裝置 (PDA) 即時查驗。</a:t>
            </a:r>
          </a:p>
          <a:p>
            <a:r>
              <a:t>• 教育訓練與防呆機制：</a:t>
            </a:r>
          </a:p>
          <a:p>
            <a:r>
              <a:t>    - 持續推行標準作業流程 (SOP)，強化「雙人核對」與「全程監控」的安全文化。</a:t>
            </a:r>
          </a:p>
          <a:p>
            <a:r>
              <a:t>• 倉儲安全提升：</a:t>
            </a:r>
          </a:p>
          <a:p>
            <a:r>
              <a:t>    - 強化高處作業防護裝備配戴規範，並落實氣候溫控因應機制。</a:t>
            </a:r>
          </a:p>
          <a:p>
            <a:r>
              <a:t>• 跨部門品質連動：</a:t>
            </a:r>
          </a:p>
          <a:p>
            <a:r>
              <a:t>    - 緊密結合進料 (IQC)、製程 (IPQC) 與出貨 (FQC) 品管體系，確保品質一致性。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進貨作業管制 (Inbound Control)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確保所有進廠的原物料與包材皆符合安全與品質規範，嚴格把關第一道防線：</a:t>
            </a:r>
          </a:p>
          <a:p>
            <a:pPr/>
            <a:r>
              <a:t>散裝槽車作業</a:t>
            </a:r>
          </a:p>
          <a:p>
            <a:pPr lvl="1"/>
            <a:r>
              <a:t>單據核對：品名與槽別確認無誤。</a:t>
            </a:r>
          </a:p>
          <a:p>
            <a:pPr lvl="1"/>
            <a:r>
              <a:t>安全定位：輪檔放置、確認防靜電接地線 (小於 10 歐姆)。</a:t>
            </a:r>
          </a:p>
          <a:p>
            <a:pPr lvl="1"/>
            <a:r>
              <a:t>取樣化驗：經品管化驗合格後才可接管。</a:t>
            </a:r>
          </a:p>
          <a:p>
            <a:pPr lvl="1"/>
            <a:r>
              <a:t>卸料與排空：開啟排氣閥防負壓，結束後氮氣壓空與洩壓。</a:t>
            </a:r>
          </a:p>
          <a:p>
            <a:pPr/>
            <a:r>
              <a:t>小包材作業 (200L/1T/Pails)</a:t>
            </a:r>
          </a:p>
          <a:p>
            <a:pPr lvl="1"/>
            <a:r>
              <a:t>入廠核對：數量與品名確認。</a:t>
            </a:r>
          </a:p>
          <a:p>
            <a:pPr lvl="1"/>
            <a:r>
              <a:t>外觀檢驗：破損與清潔度檢查、棧板完整性確認。</a:t>
            </a:r>
          </a:p>
          <a:p>
            <a:r>
              <a:t>～-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倉儲儲存管制 (Storage Control)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維護廠區內庫存物料的存放安全、品質穩定與先進先出原則：</a:t>
            </a:r>
          </a:p>
          <a:p>
            <a:pPr/>
            <a:r>
              <a:t>散裝儲槽管理</a:t>
            </a:r>
          </a:p>
          <a:p>
            <a:pPr lvl="1"/>
            <a:r>
              <a:t>日常巡檢：液位、壓力與設備異常監控。</a:t>
            </a:r>
          </a:p>
          <a:p>
            <a:pPr lvl="1"/>
            <a:r>
              <a:t>溫控管理：依氣溫規定啟動保溫 (例如 GAA 氣溫低於 16°C 保溫)。</a:t>
            </a:r>
          </a:p>
          <a:p>
            <a:pPr lvl="1"/>
            <a:r>
              <a:t>耗材監控：過濾袋壓差監測 (&gt;2kg/cm²) 或滿一年即更換。</a:t>
            </a:r>
          </a:p>
          <a:p>
            <a:pPr/>
            <a:r>
              <a:t>小包材庫存管理</a:t>
            </a:r>
          </a:p>
          <a:p>
            <a:pPr lvl="1"/>
            <a:r>
              <a:t>環境巡檢：溫濕度與通風條件確認。</a:t>
            </a:r>
          </a:p>
          <a:p>
            <a:pPr lvl="1"/>
            <a:r>
              <a:t>庫存原則：落實 FIFO (先進先出) 管理。</a:t>
            </a:r>
          </a:p>
          <a:p>
            <a:pPr lvl="1"/>
            <a:r>
              <a:t>安全防護：規範堆疊高度、傾倒防護與入庫標示。</a:t>
            </a:r>
          </a:p>
          <a:p>
            <a:r>
              <a:t>～-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出貨灌裝管制 (Outbound Control)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保障出貨產品的純度、準確度與運輸安全性，杜絕交叉污染：</a:t>
            </a:r>
          </a:p>
          <a:p>
            <a:pPr/>
            <a:r>
              <a:t>散裝與 ISO TANK 灌裝</a:t>
            </a:r>
          </a:p>
          <a:p>
            <a:pPr lvl="1"/>
            <a:r>
              <a:t>出廠安檢：空槽車內部與外觀清潔度檢核。</a:t>
            </a:r>
          </a:p>
          <a:p>
            <a:pPr lvl="1"/>
            <a:r>
              <a:t>灌裝前置：管線 Flush (工業級40L/電子級200L)，EBR 需預先攪拌。</a:t>
            </a:r>
          </a:p>
          <a:p>
            <a:pPr lvl="1"/>
            <a:r>
              <a:t>全程監控：操作員絕對不得離開現場，並進行安全監控。</a:t>
            </a:r>
          </a:p>
          <a:p>
            <a:pPr lvl="1"/>
            <a:r>
              <a:t>壓空與封籤：灌裝後以氮氣壓空、洩壓並上防偽封籤。</a:t>
            </a:r>
          </a:p>
          <a:p>
            <a:pPr/>
            <a:r>
              <a:t>小包材灌裝出貨</a:t>
            </a:r>
          </a:p>
          <a:p>
            <a:pPr lvl="1"/>
            <a:r>
              <a:t>空桶檢核：空桶內部清潔度抽檢。</a:t>
            </a:r>
          </a:p>
          <a:p>
            <a:pPr lvl="1"/>
            <a:r>
              <a:t>重量控制：灌裝重量與液位嚴格檢核。</a:t>
            </a:r>
          </a:p>
          <a:p>
            <a:pPr lvl="1"/>
            <a:r>
              <a:t>出貨確認：封蓋標示、裝櫃與疊板安全核對。</a:t>
            </a:r>
          </a:p>
          <a:p>
            <a:r>
              <a:t>～-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目前概況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資材部目前概況與未來展望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資材課持續強化安全管理與資訊化升級，致力於提升整體作業效率：</a:t>
            </a:r>
          </a:p>
          <a:p>
            <a:pPr/>
            <a:r>
              <a:t>資訊化管理導入</a:t>
            </a:r>
          </a:p>
          <a:p>
            <a:pPr lvl="1"/>
            <a:r>
              <a:t>逐步汰換傳統紙本，推動 ERP 與行動裝置 (PDA) 即時查驗。</a:t>
            </a:r>
          </a:p>
          <a:p>
            <a:pPr/>
            <a:r>
              <a:t>教育訓練與防呆機制</a:t>
            </a:r>
          </a:p>
          <a:p>
            <a:pPr lvl="1"/>
            <a:r>
              <a:t>持續推行標準作業流程 (SOP)，強化「雙人核對」與「全程監控」的安全文化。</a:t>
            </a:r>
          </a:p>
          <a:p>
            <a:pPr/>
            <a:r>
              <a:t>倉儲安全提升</a:t>
            </a:r>
          </a:p>
          <a:p>
            <a:pPr lvl="1"/>
            <a:r>
              <a:t>強化高處作業防護裝備配戴規範，並落實氣候溫控因應機制。</a:t>
            </a:r>
          </a:p>
          <a:p>
            <a:pPr/>
            <a:r>
              <a:t>跨部門品質連動</a:t>
            </a:r>
          </a:p>
          <a:p>
            <a:pPr lvl="1"/>
            <a:r>
              <a:t>緊密結合進料 (IQC)、製程 (IPQC) 與出貨 (FQC) 品管體系，確保品質一致性。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DocSecurity>0</DocSecurity>
  <PresentationFormat>寬螢幕</PresentationFormat>
  <Paragraphs>164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微軟正黑體</vt:lpstr>
      <vt:lpstr>新細明體</vt:lpstr>
      <vt:lpstr>Arial</vt:lpstr>
      <vt:lpstr>Calibri</vt:lpstr>
      <vt:lpstr>Calibri Light</vt:lpstr>
      <vt:lpstr>Office 佈景主題</vt:lpstr>
      <vt:lpstr>鴻勝化學 教育訓練作業管理辦法 4.0版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鴻勝化學-陳世偉</cp:lastModifiedBy>
  <cp:revision>2</cp:revision>
  <dcterms:created xsi:type="dcterms:W3CDTF">2026-08-27T00:03:00Z</dcterms:created>
  <dcterms:modified xsi:type="dcterms:W3CDTF">2026-08-27T00:06:15Z</dcterms:modified>
</cp:coreProperties>
</file>