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01. I P A 流程圖</a:t>
            </a:r>
          </a:p>
          <a:p>
            <a:pPr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系統總容量: 原料共 2,850 KL / 成品共 770 KL | 流程配置: 原料區 ➔ 製程 ➔ 待驗槽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2335" y="32004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4692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原料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20040"/>
            <a:ext cx="109728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564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製程 / 調合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320040"/>
            <a:ext cx="109728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436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8495" y="320040"/>
            <a:ext cx="109728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308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格外品 / 下腳料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37215" y="320040"/>
            <a:ext cx="109728" cy="1097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180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公用 / 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71600"/>
            <a:ext cx="21945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2,850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2194560" cy="11887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136245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IPAHW下腳料區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50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480560"/>
            <a:ext cx="2194560" cy="16459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4370832"/>
            <a:ext cx="1161288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IPA下腳料區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720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150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371600"/>
            <a:ext cx="182880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09560" y="1261872"/>
            <a:ext cx="2670048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Check Tank 待驗 (IPAUPS)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25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1371600"/>
            <a:ext cx="182880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12680" y="1261872"/>
            <a:ext cx="136245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IPAUPS成品區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570 KL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840480"/>
            <a:ext cx="182880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9560" y="3730752"/>
            <a:ext cx="2569464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Check Tank 待驗 (IPAHQ)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60 KL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3840480"/>
            <a:ext cx="182880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12680" y="3730752"/>
            <a:ext cx="126187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IPAHQ成品區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200 KL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1280160"/>
            <a:ext cx="1828800" cy="64008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S1製程生產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2148840"/>
            <a:ext cx="1828800" cy="64008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S3製程生產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156362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5400000">
            <a:off x="3931920" y="14904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17520" y="243230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5400000">
            <a:off x="3931920" y="235915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66160" y="15636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29584" y="1600200"/>
            <a:ext cx="73152" cy="2057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66160" y="36210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5400000">
            <a:off x="3931920" y="35478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格外品排料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2432304"/>
            <a:ext cx="7315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46704" y="2468880"/>
            <a:ext cx="73152" cy="2560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83280" y="4992624"/>
            <a:ext cx="7315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5400000">
            <a:off x="3931920" y="49194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0" y="4709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格外品排料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15636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 rot="5400000">
            <a:off x="7589520" y="14904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1600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送待驗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07024" y="2468880"/>
            <a:ext cx="73152" cy="2331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43600" y="47640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 rot="5400000">
            <a:off x="7589520" y="46908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4480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送待驗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0" y="220370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5400000">
            <a:off x="9692640" y="213055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23960" y="1920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N2 吹掃放行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01200" y="47640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sosceles Triangle 61"/>
          <p:cNvSpPr/>
          <p:nvPr/>
        </p:nvSpPr>
        <p:spPr>
          <a:xfrm rot="5400000">
            <a:off x="9692640" y="46908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23960" y="4480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N2 吹掃放行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80160" y="16459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TK-602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80160" y="237744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TK-696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80160" y="310896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TK-697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80160" y="384048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TK-693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一廠專供原料槽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280160" y="457200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TK-604A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精餾塔A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80160" y="53035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TK-604B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精餾塔B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0" y="338328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TK-652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IPAHW下腳料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0" y="475488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TK-690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格外品回收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0" y="544068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TK-691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不合格回收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46720" y="2194560"/>
            <a:ext cx="1280160" cy="64008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TK-614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待驗槽A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46720" y="4160520"/>
            <a:ext cx="1280160" cy="64008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TK-675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待驗槽B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46720" y="5074920"/>
            <a:ext cx="1280160" cy="64008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TK-676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待驗槽C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149840" y="16459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TK-624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149840" y="25603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70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工業級成品槽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49840" y="41605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TK-681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電子級成品槽A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149840" y="50749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電子級成品槽B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02. E G 流程圖</a:t>
            </a:r>
          </a:p>
          <a:p>
            <a:pPr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系統總容量: 原料共 350 KL / 成品共 375 KL | 流程配置: 原料區 ➔ 製程 ➔ 待驗槽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2335" y="32004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4692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原料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20040"/>
            <a:ext cx="109728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564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製程 / 調合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320040"/>
            <a:ext cx="109728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436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8495" y="320040"/>
            <a:ext cx="109728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308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格外品 / 下腳料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37215" y="320040"/>
            <a:ext cx="109728" cy="1097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180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公用 / 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71600"/>
            <a:ext cx="21945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350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21945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85953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50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176479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55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375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2082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2651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格外品排料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調合配料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放行成品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016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TK-603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TK-689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TK-613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待驗配料槽A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292608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TK-678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待驗配料槽B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0" y="210312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TK-623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9840" y="301752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384048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TK-656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格外品回收槽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03. N M P 流程圖</a:t>
            </a:r>
          </a:p>
          <a:p>
            <a:pPr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系統總容量: 原料共 445 KL / 成品共 250 KL | 流程配置: 原料區 ➔ 製程 ➔ 待驗槽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2335" y="32004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4692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原料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20040"/>
            <a:ext cx="109728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564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製程 / 調合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320040"/>
            <a:ext cx="109728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436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8495" y="320040"/>
            <a:ext cx="109728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308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格外品 / 下腳料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37215" y="320040"/>
            <a:ext cx="109728" cy="1097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180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公用 / 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71600"/>
            <a:ext cx="21945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445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21945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85953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格外品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176479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25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250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2082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2651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格外品排料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送待驗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N2 吹掃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0160" y="16459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TK-632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237744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TK-633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0160" y="310896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TK-671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70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TK-611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製程待驗槽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TK-621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0" y="34747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IBC桶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1T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格外品收集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04. C P N E 4 流程圖</a:t>
            </a:r>
          </a:p>
          <a:p>
            <a:pPr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系統總容量: 原料共 500 KL / 成品共 50 KL | 流程配置: 原料區 ➔ 製程 ➔ 待驗槽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2335" y="32004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4692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原料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20040"/>
            <a:ext cx="109728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564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製程 / 調合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320040"/>
            <a:ext cx="109728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436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8495" y="320040"/>
            <a:ext cx="109728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308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格外品 / 下腳料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37215" y="320040"/>
            <a:ext cx="109728" cy="1097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180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公用 / 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71600"/>
            <a:ext cx="21945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500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21945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85953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50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176479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30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50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2082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2651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格外品排料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送待驗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N2 吹掃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21424" y="2057400"/>
            <a:ext cx="73152" cy="1417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0" y="3438144"/>
            <a:ext cx="30175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5400000">
            <a:off x="9692640" y="336499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3154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直接放行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16459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TK-684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" y="237744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TK-685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80160" y="310896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TK-686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80160" y="384048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TK-687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0160" y="457200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TK-688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0" y="4114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TK-655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格外品大槽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TK-677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4984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TK-680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05. CPNE3R &amp; CPNE3 &amp; CPNE3T &amp; 2CPN-P1 流程圖</a:t>
            </a:r>
          </a:p>
          <a:p>
            <a:pPr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系統總容量: 原料共 80 KL / CPNE3成品共 295 KL / CPNE3T成品共 100 KL | 流程配置: 原料區 ➔ 製程 ➔ 待驗槽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2335" y="32004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4692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原料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20040"/>
            <a:ext cx="109728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564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製程 / 調合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320040"/>
            <a:ext cx="109728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436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8495" y="320040"/>
            <a:ext cx="109728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308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格外品 / 下腳料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37215" y="320040"/>
            <a:ext cx="109728" cy="1097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180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公用 / 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80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54680" y="1261872"/>
            <a:ext cx="1463040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半成品 CPN-P1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500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9240" y="1261872"/>
            <a:ext cx="1463040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半成品 CPNE3R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250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43800" y="1261872"/>
            <a:ext cx="126187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 CPNE3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295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8360" y="1261872"/>
            <a:ext cx="136245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 CPNE3T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100 KL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660904"/>
            <a:ext cx="36576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2834640" y="258775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前處理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660904"/>
            <a:ext cx="36576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5029200" y="258775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製程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2660904"/>
            <a:ext cx="36576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7223760" y="258775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製程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2660904"/>
            <a:ext cx="36576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5400000">
            <a:off x="9418320" y="258775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製程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98064" y="2834640"/>
            <a:ext cx="73152" cy="10972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2724912" y="374904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86000" y="4023360"/>
            <a:ext cx="109728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IBC桶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1T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格外品前處理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92624" y="2834640"/>
            <a:ext cx="73152" cy="10972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10800000">
            <a:off x="4919472" y="374904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6636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60" y="4023360"/>
            <a:ext cx="109728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TK-660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70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格外品回收槽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87184" y="2834640"/>
            <a:ext cx="73152" cy="10972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 rot="10800000">
            <a:off x="7114032" y="374904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75120" y="4023360"/>
            <a:ext cx="109728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TK-655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格外品大槽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81744" y="2834640"/>
            <a:ext cx="73152" cy="10972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 rot="10800000">
            <a:off x="9308592" y="374904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548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69680" y="4023360"/>
            <a:ext cx="109728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TK-655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格外品大槽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TK-643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40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攪拌調合罐A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728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TK-645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40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攪拌調合罐B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1840" y="2331720"/>
            <a:ext cx="1280160" cy="8229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TK-634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半成品大槽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0" y="2331720"/>
            <a:ext cx="1280160" cy="8229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TK-601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半成品反應槽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8096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TK-661/662/664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65 KL / 槽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成品大槽組 (3槽)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80960" y="292608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TK-667/668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50 KL / 槽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成品大槽組 (2槽)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75520" y="2331720"/>
            <a:ext cx="1280160" cy="8229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TK-683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成品放行大槽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06. A C T 流程圖</a:t>
            </a:r>
          </a:p>
          <a:p>
            <a:pPr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系統總容量: 原料共 70 KL / 成品共 250 KL | 流程配置: 原料區 ➔ 製程 ➔ 待驗槽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2335" y="32004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4692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原料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20040"/>
            <a:ext cx="109728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564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製程 / 調合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320040"/>
            <a:ext cx="109728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436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8495" y="320040"/>
            <a:ext cx="109728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308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格外品 / 下腳料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37215" y="320040"/>
            <a:ext cx="109728" cy="1097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180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公用 / 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71600"/>
            <a:ext cx="21945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70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21945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85953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25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176479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25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250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2082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2651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格外品回流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送精製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放行成品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016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TK-657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70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ACT 原料槽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TK-612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精餾製程釜 (N2 吹掃)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TK-622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4114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1T桶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1T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格外品回流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07. E B R 流程圖</a:t>
            </a:r>
          </a:p>
          <a:p>
            <a:pPr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系統總容量: 原料共 450 KL / 成品共 800 KL | 流程配置: 原料區 ➔ 製程 ➔ 待驗槽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2335" y="32004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4692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原料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20040"/>
            <a:ext cx="109728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564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製程 / 調合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320040"/>
            <a:ext cx="109728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436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8495" y="320040"/>
            <a:ext cx="109728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308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格外品 / 下腳料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37215" y="320040"/>
            <a:ext cx="109728" cy="1097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180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公用 / 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71600"/>
            <a:ext cx="21945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450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21945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85953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200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800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02082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2651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格外品排料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成品放行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TKC01-09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 KL / 槽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平行原料組槽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34747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TK-646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格外品槽A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20624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TK-647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格外品槽B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93776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TK-648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格外品槽C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10312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TK-699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550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2004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TK-631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08. HEA-R 流程圖</a:t>
            </a:r>
          </a:p>
          <a:p>
            <a:pPr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系統總容量: 原料共 50 KL / 成品A共 140 KL / 成品B共 125 KL | 流程配置: 原料區 ➔ 製程 ➔ 待驗槽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2335" y="32004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4692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原料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20040"/>
            <a:ext cx="109728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564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製程 / 調合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320040"/>
            <a:ext cx="109728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436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8495" y="320040"/>
            <a:ext cx="109728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308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格外品 / 下腳料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37215" y="320040"/>
            <a:ext cx="109728" cy="1097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180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公用 / 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71600"/>
            <a:ext cx="21945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21945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85953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1T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371600"/>
            <a:ext cx="182880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12680" y="1261872"/>
            <a:ext cx="186537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成品區 B (DPM-B1)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125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840480"/>
            <a:ext cx="393192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09560" y="3730752"/>
            <a:ext cx="236829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成品區 A (MIXED ETHER)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140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2082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2651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格外品排料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39319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成品放行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1424" y="2057400"/>
            <a:ext cx="73152" cy="28803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4901184"/>
            <a:ext cx="9144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5400000">
            <a:off x="7589520" y="482803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成品放行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TK654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4114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IBC桶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1T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格外品收集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9840" y="201168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TK-641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 DPM-B1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4572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TK-673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70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MIXED ETHER 成品B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09. 崙尾 I P A HQ 流程圖</a:t>
            </a:r>
          </a:p>
          <a:p>
            <a:pPr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系統總容量: 原料共 2,000 KL / 成品共 400 KL | 流程配置: 原料區 ➔ 製程 ➔ 待驗槽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2335" y="32004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4692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原料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1055" y="320040"/>
            <a:ext cx="109728" cy="1097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564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製程 / 調合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320040"/>
            <a:ext cx="109728" cy="1097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2436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成品槽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8495" y="320040"/>
            <a:ext cx="109728" cy="1097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308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格外品 / 下腳料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37215" y="320040"/>
            <a:ext cx="109728" cy="1097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1807" y="283464"/>
            <a:ext cx="9326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JhengHei"/>
              </a:defRPr>
            </a:pPr>
            <a:r>
              <a:t>公用 / N2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71600"/>
            <a:ext cx="21945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1261872"/>
            <a:ext cx="7589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2,000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21945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85953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300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22677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Check Tank 待驗 (S4)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60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126187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成品區 (S4)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200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840480"/>
            <a:ext cx="182880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3730752"/>
            <a:ext cx="22677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Check Tank 待驗 (S5)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60 KL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3840480"/>
            <a:ext cx="1828800" cy="228600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12680" y="3730752"/>
            <a:ext cx="126187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成品區 (S5)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200 KL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1280160"/>
            <a:ext cx="1828800" cy="64008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S4製程生產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2148840"/>
            <a:ext cx="1828800" cy="64008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S5製程生產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156362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5400000">
            <a:off x="3931920" y="14904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0" y="2432304"/>
            <a:ext cx="1097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5400000">
            <a:off x="3931920" y="235915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15636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29584" y="1600200"/>
            <a:ext cx="73152" cy="2286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66160" y="38496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5400000">
            <a:off x="3931920" y="37764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83280" y="2432304"/>
            <a:ext cx="7315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46704" y="2468880"/>
            <a:ext cx="73152" cy="2331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83280" y="4764024"/>
            <a:ext cx="7315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5400000">
            <a:off x="3931920" y="46908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0" y="28529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格外品排料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063240" y="2944368"/>
            <a:ext cx="256032" cy="91440"/>
          </a:xfrm>
          <a:prstGeom prst="rightArrow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15636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5400000">
            <a:off x="7589520" y="14904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1600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待檢驗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07024" y="2468880"/>
            <a:ext cx="73152" cy="2331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47640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5400000">
            <a:off x="7589520" y="46908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4480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待檢驗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220370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 rot="5400000">
            <a:off x="9692640" y="213055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23960" y="1920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成品放行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0" y="47640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5400000">
            <a:off x="9692640" y="46908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23960" y="4480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Microsoft JhengHei"/>
              </a:defRPr>
            </a:pPr>
            <a:r>
              <a:t>成品放行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80160" y="201168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TK-617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原料大槽A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80160" y="292608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TK-618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原料大槽B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0" y="3566160"/>
            <a:ext cx="1280160" cy="64008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TK-611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200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格外品槽A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0" y="4480560"/>
            <a:ext cx="1280160" cy="64008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TK-613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格外品槽B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46720" y="160020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TK-601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待驗槽A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46720" y="23317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TK-602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待驗槽B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46720" y="41605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TK-603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待驗槽C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50749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TK-604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待驗槽D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49840" y="160020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TK-605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49840" y="23317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TK-606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成品大槽B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49840" y="41605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TK-607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成品大槽C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49840" y="5074920"/>
            <a:ext cx="1280160" cy="59436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TK-608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成品大槽D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