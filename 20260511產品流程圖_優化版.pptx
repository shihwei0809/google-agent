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01. I P A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2850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2850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31089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104241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200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85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1320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產生下腳料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送待驗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N2 吹掃放行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TK-602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大宗原料槽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TK-696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工業級進料大槽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小包裝儲槽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一廠專用進料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572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TK-604A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精餾塔A組分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4572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TK-604B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精餾塔B組分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356616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TK-652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格外品回收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0" y="356616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TK-690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格外品回收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80" y="448056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TK-691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不合格回收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TK-614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中間調配待驗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TK-675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待驗攪拌釜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TK-676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待驗攪拌釜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TK-624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合規成品出貨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4984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電子級 IPA 成品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52144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電子級 IPA 成品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70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工業級常態成品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02. E G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350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原料儲運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31089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104241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格外品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配料混合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350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格外品回收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配料混配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基礎進料儲存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TK-678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55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混合均配槽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EG-01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常規成品罐A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9840" y="32004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EG-02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常規成品罐B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114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EG-OG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不合格回收罐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03. N M P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445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原料儲運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31089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104241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格外品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製程段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445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格外品回收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送中繼反應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放行成品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TK-611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原料進料大槽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NMP-P1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中繼加熱反應器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NMP-F1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電子成品大槽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984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NMP-F2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25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電子成品大槽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2144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IBC桶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IBC裝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散裝桶裝充填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4114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NMP-OG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格外不合格回收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04. C P N E 4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510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330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31089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104241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90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300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格外品排料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反應與過濾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放行成品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基礎進料罐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TK-680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250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大容量進料槽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中間調節罐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TK-661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反應釜A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TK-662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反應釜B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TK-664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反應釜C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4572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Check-Tank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過濾槽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製程精密過濾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TK-684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合格放行大槽A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TK-687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合格放行大槽B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4984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TK-688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合格放行大槽C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4114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TK-655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格外品大槽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05. CPNE3R &amp; CPNE3 &amp; CPNE3 T&amp; 2CPN-P1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80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原料儲運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31089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104241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格外品罐群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半成品與反應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成品大槽群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格外品回收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合成半成品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TK-634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進料原料大槽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40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攪拌調合罐A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TK-645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40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攪拌調合罐B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TK-661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130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反應合成大槽A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TK-660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反應合成大槽B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CPNE3R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65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半成品暫存槽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984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CPNE3T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超高純合格品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EG-3T-Tank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成品放行罐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ISO TANK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槽車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槽車裝運充填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356616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1CPNR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格外品回收槽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356616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CPNE3R1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特種回收罐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06. A C T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250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70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31089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104241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25 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30 KL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100 KL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下腳料回流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送精製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成品檢驗放行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TK-657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70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ACT 純原料槽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TK-612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含 N2 purge 吹掃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TK-622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合格成品大槽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4114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1T桶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1T裝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格外回流罐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07. E B R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450 KL / 800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50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混配組槽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配料混配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成品放行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EBR 進料總罐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TKC01-09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 / 槽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平行調配組槽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9840" y="2286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TK-699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合格成品儲罐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08. HEA-R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50 KL / 375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共 80 KL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聚合與調整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成品大罐群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聚合配料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放行成品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Mixed-Ether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混合醚主進料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DPM-B1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進料中繼釜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TK654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主要聚合反應釜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TK-673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50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成分調整均配槽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4984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TK-641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成品大罐A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TK-674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成品大罐B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09. 崙尾 I P A HQ 流程圖 (分區工藝圖)</a:t>
            </a:r>
          </a:p>
          <a:p>
            <a:pPr>
              <a:defRPr sz="1200" b="1">
                <a:solidFill>
                  <a:srgbClr val="FBBF24"/>
                </a:solidFill>
                <a:latin typeface="Microsoft JhengHei"/>
              </a:defRPr>
            </a:pPr>
            <a:r>
              <a:t>系統總容量：共 400 KL | 分區流程圖：原料區 ➔ 製程 ➔ 待驗 (Check Tank) ➔ 成品區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0575" y="365760"/>
            <a:ext cx="137160" cy="1371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34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原料儲槽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495" y="365760"/>
            <a:ext cx="137160" cy="137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937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製程/半成品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365760"/>
            <a:ext cx="137160" cy="137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成品儲槽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365760"/>
            <a:ext cx="13716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121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格外品/異常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365760"/>
            <a:ext cx="137160" cy="1371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713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公共/公用設施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10896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8BDF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8BDF8"/>
                </a:solidFill>
                <a:latin typeface="Microsoft JhengHei"/>
              </a:defRPr>
            </a:pPr>
            <a:r>
              <a:t>原料區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原料平衡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3108960" cy="301752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43F5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999232"/>
            <a:ext cx="1042416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43F5E"/>
                </a:solidFill>
                <a:latin typeface="Microsoft JhengHei"/>
              </a:defRPr>
            </a:pPr>
            <a:r>
              <a:t>下腳料區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格外下腳料群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BBF2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1261872"/>
            <a:ext cx="235915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FBBF24"/>
                </a:solidFill>
                <a:latin typeface="Microsoft JhengHei"/>
              </a:defRPr>
            </a:pPr>
            <a:r>
              <a:t>Check Tank 待驗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精製與調配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1371600"/>
            <a:ext cx="1828800" cy="4754880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34D3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12680" y="1261872"/>
            <a:ext cx="896112" cy="219456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>
              <a:defRPr sz="1050" b="1">
                <a:solidFill>
                  <a:srgbClr val="34D399"/>
                </a:solidFill>
                <a:latin typeface="Microsoft JhengHei"/>
              </a:defRPr>
            </a:pPr>
            <a:r>
              <a:t>成品區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Microsoft JhengHei"/>
              </a:defRPr>
            </a:pPr>
            <a:r>
              <a:t>電子級放行成品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645920"/>
            <a:ext cx="1828800" cy="822960"/>
          </a:xfrm>
          <a:prstGeom prst="roundRect">
            <a:avLst/>
          </a:prstGeom>
          <a:solidFill>
            <a:srgbClr val="161C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製程生產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020824"/>
            <a:ext cx="54864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39319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2468880"/>
            <a:ext cx="73152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919472" y="2926080"/>
            <a:ext cx="219456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468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格外下腳排料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020824"/>
            <a:ext cx="182880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58952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送精密精製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020824"/>
            <a:ext cx="27432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9692640" y="1947672"/>
            <a:ext cx="182880" cy="219456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737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Microsoft JhengHei"/>
              </a:defRPr>
            </a:pPr>
            <a:r>
              <a:t>成品檢驗放行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TK-601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進口原料大槽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TK-603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500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均合平衡大槽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TK-617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基礎大容量槽A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5720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TK-618</a:t>
            </a:r>
          </a:p>
          <a:p>
            <a:pPr algn="l">
              <a:defRPr sz="950" b="1">
                <a:solidFill>
                  <a:srgbClr val="38BDF8"/>
                </a:solidFill>
                <a:latin typeface="Microsoft JhengHei"/>
              </a:defRPr>
            </a:pPr>
            <a:r>
              <a:t>1000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基礎大容量槽B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TK-605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70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精密精製釜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TK-611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精製調配罐A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TK-613</a:t>
            </a:r>
          </a:p>
          <a:p>
            <a:pPr algn="l">
              <a:defRPr sz="950" b="1">
                <a:solidFill>
                  <a:srgbClr val="FBBF24"/>
                </a:solidFill>
                <a:latin typeface="Microsoft JhengHei"/>
              </a:defRPr>
            </a:pPr>
            <a:r>
              <a:t>30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精製調配罐B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18288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TK-681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400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高純成品大槽A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0" y="27432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TK-682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400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高純成品大槽B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49840" y="365760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TK-624</a:t>
            </a:r>
          </a:p>
          <a:p>
            <a:pPr algn="l">
              <a:defRPr sz="950" b="1">
                <a:solidFill>
                  <a:srgbClr val="34D399"/>
                </a:solidFill>
                <a:latin typeface="Microsoft JhengHei"/>
              </a:defRPr>
            </a:pPr>
            <a:r>
              <a:t>400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高純成品大槽C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80" y="356616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TK-OG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100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精製格外品槽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60720" y="3566160"/>
            <a:ext cx="1280160" cy="73152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JhengHei"/>
              </a:defRPr>
            </a:pPr>
            <a:r>
              <a:t>TK-697</a:t>
            </a:r>
          </a:p>
          <a:p>
            <a:pPr algn="l">
              <a:defRPr sz="950" b="1">
                <a:solidFill>
                  <a:srgbClr val="F43F5E"/>
                </a:solidFill>
                <a:latin typeface="Microsoft JhengHei"/>
              </a:defRPr>
            </a:pPr>
            <a:r>
              <a:t>300 KL</a:t>
            </a:r>
          </a:p>
          <a:p>
            <a:pPr algn="l">
              <a:spcBef>
                <a:spcPts val="200"/>
              </a:spcBef>
              <a:defRPr sz="750">
                <a:solidFill>
                  <a:srgbClr val="94A3B8"/>
                </a:solidFill>
                <a:latin typeface="Microsoft JhengHei"/>
              </a:defRPr>
            </a:pPr>
            <a:r>
              <a:t>下腳料回收槽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