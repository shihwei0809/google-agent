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46F890A9-2807-4EBB-B81D-B2AA78EC7F39}" styleName="深色樣式 2 - 輔色 5/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12252D-ED89-47DD-8331-9CC2A1820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06C8C68-6B03-4028-9286-B23635587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按一下以編輯母片副標題樣式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77FD67-C054-4A76-94C7-3EAC9A11D13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454CEE-5E5B-41D7-8631-308EA63E9029}" type="datetime1">
              <a:t>2026/9/3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EFB122B-413D-4D21-936B-84C37F68F6B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0C78E9-3544-4729-83C1-EFB7755913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2F014F-B28D-48A4-B221-E6BED7A3C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C218AA-4D37-47E2-B980-76DD33819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200AE6-42EF-4629-9134-A121368CEFB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07DD6EE-D2B6-447B-AD3E-0EFD9EF7894C}" type="datetime1">
              <a:t>2026/9/3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E70956-9BFD-42B8-A8DB-84296BFF016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5F6841-A860-44AB-A271-5C15385E05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C07DA4-93BB-46D6-BC85-218DCF9A5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D137A76-9AD9-4A9D-8796-AFCF1FA95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51A63D-2343-4583-BB18-FB20CD391F6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FF06D20-87B4-4307-A5B1-5D5C5093CA30}" type="datetime1">
              <a:t>2026/9/3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448FFF-FFA0-4E3F-BF08-FBE28A775C9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1EDA3F-A78F-4450-90C8-0843277474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7C4355-3A39-4638-ADF5-B549C8E27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C5537C-2150-42BA-959E-C26170AADD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CC130C9-4AF7-4771-84F3-7B11FCAEFB35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F5C421A-CC3A-43CB-8D8F-9636DDE0DA6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57D4AF1-1251-4637-8A6F-97D493602ED4}" type="datetime1">
              <a:t>2026/9/3</a:t>
            </a:fld>
            <a:endParaRPr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544F5D0-64B8-4518-B595-D6285C19571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587DEBB-D060-4A31-BEFF-B6B4DAE1754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282D3A-EAB8-4ACE-8C32-B6AAC5AE9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CD821EC-89B6-4C77-8081-9A243C162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0C27B2D-4D97-4382-AB20-EC08B611F84D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65E4922-6B05-4B46-B0F4-BE1D378AAAF1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FA0AB8F-8F79-4D17-8F01-0BDB3C667E6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B4F3C68-2373-413A-9538-193F742720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2FBF5D98-B469-4C75-8BEF-DAC419AB2BFC}" type="datetime1">
              <a:t>2026/9/3</a:t>
            </a:fld>
            <a:endParaRPr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E6B7A3B-0417-41C1-8058-4ECA66A7A43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F4D7D5A-5E53-4776-919F-9918A2E351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C2976E-D821-4AEC-A4D5-0DC0D39F5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B4D54DD-EF0C-4CDB-A889-829D062B605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DF0563E-3B48-4164-AE17-F5CCD0B30659}" type="datetime1">
              <a:t>2026/9/3</a:t>
            </a:fld>
            <a:endParaRPr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CEB3B7B-3A70-44B2-B1BC-D85A0DD735E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BEED2A2-9554-4BE1-99BE-890F2A8D2E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65FE247-B79B-4CCC-86BC-F4580130A82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A145A1B-4E5B-4E1C-B913-FCF468420DE4}" type="datetime1">
              <a:t>2026/9/3</a:t>
            </a:fld>
            <a:endParaRPr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B2D1581-B8EF-486E-9DA1-AD1871CF9E87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EB8AA7F-239B-4826-BA42-887985CE4DB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A863A2-540F-447B-AB89-74705E2D5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7322BD-E79B-45B3-9C7A-493B7537B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4CCF4B4-20E3-471F-832C-4A588A53F55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85D50E2-A9A2-4A97-BE9B-99B3F16B7D8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C755FBC-ABE9-4FDE-9A11-765E4FFBDF62}" type="datetime1">
              <a:t>2026/9/3</a:t>
            </a:fld>
            <a:endParaRPr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E10A722-BEA2-402E-9171-D3569AEDCC5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5AB2FC2-869A-4BC2-896F-F1E54822FC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87EC68-7BE7-4D24-83B1-FC2957315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982EC22-B0A7-4079-BCF1-298BEDC45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515EF6D-FC6B-416F-8493-7FE0F901D13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3D2910C-5D9F-46F9-81E8-CBBAB364924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039D2D1-55A1-4576-B136-B6E17637B1AA}" type="datetime1">
              <a:t>2026/9/3</a:t>
            </a:fld>
            <a:endParaRPr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C6FE5F-A2DE-4F6C-B3F7-34A804100EFA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51FE3E0-E1AD-4F71-B9B0-236EA391FD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350930-DFD9-49DE-B3A0-29BFD3110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B788A2F-3274-4B6B-AAD4-192FB2683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BA10512-C50D-4C55-A1E2-B0ADC71C6EA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209EE04-D890-4AF6-B6AD-90BAAE1F5CE0}" type="datetime1">
              <a:t>2026/9/3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96EADD-C12D-4C8C-9680-AF8E7BAD1A5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CB50A7-9556-4123-B8BD-6A8603759B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BB0858D-D25B-4ED0-BB9C-690F23319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2925546-3400-4F07-95A5-C4AA94D61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12A8CF9-D486-4EF9-A9EC-212FEB01172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F09DAC6-BFB6-4DC2-B7A2-B4206EEC50EC}" type="datetime1">
              <a:t>2026/9/3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13834DA-1237-4A25-BA87-12505A484A1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9F0F3D-D888-4E58-AF9E-CBA75866927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BB6CDDC8-8DD5-4BFD-B00C-8EDC23D94F41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11DFF61-BBDA-4EA3-A4AC-63A95C3457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F62E71F-7A6D-4E65-B283-A82C1A3C8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按一下以編輯母片文字樣式</a:t>
            </a:r>
          </a:p>
          <a:p>
            <a:pPr lvl="1">
              <a:buNone/>
            </a:pPr>
            <a:r>
              <a:t>第二層</a:t>
            </a:r>
          </a:p>
          <a:p>
            <a:pPr lvl="2">
              <a:buNone/>
            </a:pPr>
            <a:r>
              <a:t>第三層</a:t>
            </a:r>
          </a:p>
          <a:p>
            <a:pPr lvl="3">
              <a:buNone/>
            </a:pPr>
            <a:r>
              <a:t>第四層</a:t>
            </a:r>
          </a:p>
          <a:p>
            <a:pPr lvl="4">
              <a:buNone/>
            </a:pPr>
            <a:r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8BEBEF-7E21-45BB-BF8C-3865AE4296C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65828-CD00-4F2B-93A5-45868E8E6683}" type="datetime1">
              <a:t>2026/9/3</a:t>
            </a:fld>
            <a:endParaRPr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DBDE2AF-CDFA-49AA-BBEB-A2351A000EE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176200-2DFD-4E0E-B0BD-EFE0E405D3B5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6CDDC8-8DD5-4BFD-B00C-8EDC23D94F41}" type="slidenum">
              <a:t>‹#›</a:t>
            </a:fld>
            <a:endParaRPr/>
          </a:p>
        </p:txBody>
      </p:sp>
      <p:pic>
        <p:nvPicPr>
          <p:cNvPr id="19" name="圖片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36396" y="123030"/>
            <a:ext cx="1007704" cy="862012"/>
          </a:xfrm>
          <a:prstGeom prst="rect">
            <a:avLst/>
          </a:prstGeom>
        </p:spPr>
      </p:pic>
      <p:pic>
        <p:nvPicPr>
          <p:cNvPr id="20" name="Picture 14"/>
          <p:cNvPicPr>
            <a:picLocks noChangeAspect="1"/>
          </p:cNvPicPr>
          <p:nvPr/>
        </p:nvPicPr>
        <p:blipFill>
          <a:blip r:embed="rId15"/>
          <a:srcRect/>
          <a:stretch>
            <a:fillRect/>
          </a:stretch>
        </p:blipFill>
        <p:spPr>
          <a:xfrm>
            <a:off x="9944100" y="404813"/>
            <a:ext cx="1738313" cy="303212"/>
          </a:xfrm>
          <a:prstGeom prst="rect">
            <a:avLst/>
          </a:prstGeom>
          <a:ln>
            <a:noFill/>
          </a:ln>
        </p:spPr>
      </p:pic>
      <p:sp>
        <p:nvSpPr>
          <p:cNvPr id="11" name="Line 5">
            <a:extLst>
              <a:ext uri="{FF2B5EF4-FFF2-40B4-BE49-F238E27FC236}">
                <a16:creationId xmlns:a16="http://schemas.microsoft.com/office/drawing/2014/main" id="{053EA51E-78F6-4F03-95E7-47BB77DAC7C3}"/>
              </a:ext>
            </a:extLst>
          </p:cNvPr>
          <p:cNvSpPr>
            <a:spLocks noGrp="1"/>
          </p:cNvSpPr>
          <p:nvPr/>
        </p:nvSpPr>
        <p:spPr>
          <a:xfrm>
            <a:off x="559293" y="958788"/>
            <a:ext cx="11304345" cy="3477"/>
          </a:xfrm>
          <a:prstGeom prst="line">
            <a:avLst/>
          </a:prstGeom>
          <a:noFill/>
          <a:ln w="3175">
            <a:solidFill>
              <a:srgbClr val="003300"/>
            </a:solidFill>
          </a:ln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699A44FC-463F-4131-AF5F-67D8C3861E16}"/>
              </a:ext>
            </a:extLst>
          </p:cNvPr>
          <p:cNvSpPr>
            <a:spLocks noGrp="1"/>
          </p:cNvSpPr>
          <p:nvPr/>
        </p:nvSpPr>
        <p:spPr>
          <a:xfrm>
            <a:off x="4095750" y="2667000"/>
            <a:ext cx="40005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資材部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CA2F920-5E2E-4AB2-B6BA-254B6AB103D7}"/>
              </a:ext>
            </a:extLst>
          </p:cNvPr>
          <p:cNvSpPr>
            <a:spLocks noGrp="1"/>
          </p:cNvSpPr>
          <p:nvPr/>
        </p:nvSpPr>
        <p:spPr>
          <a:xfrm>
            <a:off x="3048000" y="3333750"/>
            <a:ext cx="609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進出貨與倉儲作業流程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F2463BF-172D-4F24-BADF-A415C17C4E03}"/>
              </a:ext>
            </a:extLst>
          </p:cNvPr>
          <p:cNvSpPr>
            <a:spLocks noGrp="1"/>
          </p:cNvSpPr>
          <p:nvPr/>
        </p:nvSpPr>
        <p:spPr>
          <a:xfrm>
            <a:off x="3143250" y="417195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0">
                <a:solidFill>
                  <a:srgbClr val="666666"/>
                </a:solidFill>
              </a:defRPr>
            </a:pPr>
            <a:r>
              <a:rPr sz="1650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作業管制、品質防呆與資訊化管理架構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1E6766-FAC6-4984-ACDF-F5CCF5313525}"/>
              </a:ext>
            </a:extLst>
          </p:cNvPr>
          <p:cNvSpPr>
            <a:spLocks noGrp="1"/>
          </p:cNvSpPr>
          <p:nvPr/>
        </p:nvSpPr>
        <p:spPr>
          <a:xfrm>
            <a:off x="9463596" y="6000750"/>
            <a:ext cx="2347404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r">
              <a:buNone/>
              <a:defRPr sz="1050" b="0">
                <a:solidFill>
                  <a:srgbClr val="000000"/>
                </a:solidFill>
              </a:defRPr>
            </a:pPr>
            <a:r>
              <a:rPr sz="1050" b="0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2026/09/10　｜　</a:t>
            </a:r>
            <a:r>
              <a:rPr sz="1050" b="0" dirty="0" err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報告人：陳世偉</a:t>
            </a:r>
            <a:endParaRPr sz="1050" b="0" dirty="0">
              <a:solidFill>
                <a:srgbClr val="000000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341676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8F98938F-F7E1-4005-8CF6-158E1BB89E9C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簡報大綱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B8B0D9-7CC2-48DE-AAC0-7397E5697612}"/>
              </a:ext>
            </a:extLst>
          </p:cNvPr>
          <p:cNvSpPr>
            <a:spLocks noGrp="1"/>
          </p:cNvSpPr>
          <p:nvPr/>
        </p:nvSpPr>
        <p:spPr>
          <a:xfrm>
            <a:off x="762000" y="1476375"/>
            <a:ext cx="809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1. 職責範圍與組織編制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C952F74-2977-4BC3-B459-6A6F0303B256}"/>
              </a:ext>
            </a:extLst>
          </p:cNvPr>
          <p:cNvSpPr>
            <a:spLocks noGrp="1"/>
          </p:cNvSpPr>
          <p:nvPr/>
        </p:nvSpPr>
        <p:spPr>
          <a:xfrm>
            <a:off x="762000" y="2028825"/>
            <a:ext cx="809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2. 進出貨與倉儲全流程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AD65FCF-4EA4-445E-8C60-2AFE9A38C82F}"/>
              </a:ext>
            </a:extLst>
          </p:cNvPr>
          <p:cNvSpPr>
            <a:spLocks noGrp="1"/>
          </p:cNvSpPr>
          <p:nvPr/>
        </p:nvSpPr>
        <p:spPr>
          <a:xfrm>
            <a:off x="762000" y="2581275"/>
            <a:ext cx="809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3. 進貨作業管制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D049F81-5A39-4E5B-975F-2AE299832610}"/>
              </a:ext>
            </a:extLst>
          </p:cNvPr>
          <p:cNvSpPr>
            <a:spLocks noGrp="1"/>
          </p:cNvSpPr>
          <p:nvPr/>
        </p:nvSpPr>
        <p:spPr>
          <a:xfrm>
            <a:off x="762000" y="3133725"/>
            <a:ext cx="809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4. 倉儲儲存管制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1F7394-7A79-49C0-B710-8C4387048801}"/>
              </a:ext>
            </a:extLst>
          </p:cNvPr>
          <p:cNvSpPr>
            <a:spLocks noGrp="1"/>
          </p:cNvSpPr>
          <p:nvPr/>
        </p:nvSpPr>
        <p:spPr>
          <a:xfrm>
            <a:off x="762000" y="3686175"/>
            <a:ext cx="809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5. 出貨灌裝管制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3A64C19-732D-460B-9F42-ACB905145480}"/>
              </a:ext>
            </a:extLst>
          </p:cNvPr>
          <p:cNvSpPr>
            <a:spLocks noGrp="1"/>
          </p:cNvSpPr>
          <p:nvPr/>
        </p:nvSpPr>
        <p:spPr>
          <a:xfrm>
            <a:off x="762000" y="4238625"/>
            <a:ext cx="809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025" b="0">
                <a:solidFill>
                  <a:srgbClr val="000000"/>
                </a:solidFill>
              </a:defRPr>
            </a:pPr>
            <a:r>
              <a:rPr sz="202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6. 管制重點與後續方向</a:t>
            </a:r>
          </a:p>
        </p:txBody>
      </p:sp>
    </p:spTree>
    <p:extLst>
      <p:ext uri="{BB962C8B-B14F-4D97-AF65-F5344CB8AC3E}">
        <p14:creationId xmlns:p14="http://schemas.microsoft.com/office/powerpoint/2010/main" val="10660409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DC5D6077-4371-43F4-8BE6-9C50AB760D86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職責範圍與組織編制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0877412-1ED0-436F-A4A4-3D9456FABF80}"/>
              </a:ext>
            </a:extLst>
          </p:cNvPr>
          <p:cNvSpPr>
            <a:spLocks noGrp="1"/>
          </p:cNvSpPr>
          <p:nvPr/>
        </p:nvSpPr>
        <p:spPr>
          <a:xfrm>
            <a:off x="571500" y="1190625"/>
            <a:ext cx="10668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66666"/>
                </a:solidFill>
              </a:defRPr>
            </a:pPr>
            <a:r>
              <a:rPr sz="1650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資材部共 32 人，資材課串接進料、倉儲、灌裝與出貨，並與品管及製程協作。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BBF1E46-C8B5-41E2-B144-0F5E853A5649}"/>
              </a:ext>
            </a:extLst>
          </p:cNvPr>
          <p:cNvSpPr>
            <a:spLocks noGrp="1"/>
          </p:cNvSpPr>
          <p:nvPr/>
        </p:nvSpPr>
        <p:spPr>
          <a:xfrm>
            <a:off x="714375" y="2095500"/>
            <a:ext cx="2857500" cy="514350"/>
          </a:xfrm>
          <a:prstGeom prst="rect">
            <a:avLst/>
          </a:prstGeom>
          <a:solidFill>
            <a:srgbClr val="5B9BD5"/>
          </a:solidFill>
          <a:ln w="9525">
            <a:solidFill>
              <a:srgbClr val="5B9BD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C4FED9-D0E7-483E-8C36-505FABBF48CC}"/>
              </a:ext>
            </a:extLst>
          </p:cNvPr>
          <p:cNvSpPr>
            <a:spLocks noGrp="1"/>
          </p:cNvSpPr>
          <p:nvPr/>
        </p:nvSpPr>
        <p:spPr>
          <a:xfrm>
            <a:off x="828675" y="2190750"/>
            <a:ext cx="2628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資材部｜共 32 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82314EA-8E3C-4AD8-8D13-E650DDAE7F83}"/>
              </a:ext>
            </a:extLst>
          </p:cNvPr>
          <p:cNvSpPr>
            <a:spLocks noGrp="1"/>
          </p:cNvSpPr>
          <p:nvPr/>
        </p:nvSpPr>
        <p:spPr>
          <a:xfrm>
            <a:off x="904875" y="2905125"/>
            <a:ext cx="2667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林昭安｜副理</a:t>
            </a:r>
          </a:p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陳陸陣｜高級工程師</a:t>
            </a:r>
          </a:p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陳世偉｜副課長</a:t>
            </a:r>
          </a:p>
        </p:txBody>
      </p:sp>
      <p:sp>
        <p:nvSpPr>
          <p:cNvPr id="6" name="向右箭號 5">
            <a:extLst>
              <a:ext uri="{FF2B5EF4-FFF2-40B4-BE49-F238E27FC236}">
                <a16:creationId xmlns:a16="http://schemas.microsoft.com/office/drawing/2014/main" id="{846058FD-F022-4295-B679-77AF59868F3F}"/>
              </a:ext>
            </a:extLst>
          </p:cNvPr>
          <p:cNvSpPr>
            <a:spLocks noGrp="1"/>
          </p:cNvSpPr>
          <p:nvPr/>
        </p:nvSpPr>
        <p:spPr>
          <a:xfrm>
            <a:off x="3810000" y="3048000"/>
            <a:ext cx="666750" cy="41910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C48E10-E5CC-48BC-A92C-298C88BEEA65}"/>
              </a:ext>
            </a:extLst>
          </p:cNvPr>
          <p:cNvSpPr>
            <a:spLocks noGrp="1"/>
          </p:cNvSpPr>
          <p:nvPr/>
        </p:nvSpPr>
        <p:spPr>
          <a:xfrm>
            <a:off x="4762500" y="2095500"/>
            <a:ext cx="3429000" cy="514350"/>
          </a:xfrm>
          <a:prstGeom prst="rect">
            <a:avLst/>
          </a:prstGeom>
          <a:solidFill>
            <a:srgbClr val="5B9BD5"/>
          </a:solidFill>
          <a:ln w="9525">
            <a:solidFill>
              <a:srgbClr val="5B9BD5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7A6940-15E9-4CBD-BC08-F5B7D2C2F240}"/>
              </a:ext>
            </a:extLst>
          </p:cNvPr>
          <p:cNvSpPr>
            <a:spLocks noGrp="1"/>
          </p:cNvSpPr>
          <p:nvPr/>
        </p:nvSpPr>
        <p:spPr>
          <a:xfrm>
            <a:off x="4876800" y="2190750"/>
            <a:ext cx="32004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資材課與現場單位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42BB056-5C20-4CF5-98F9-D127B6AF6FF3}"/>
              </a:ext>
            </a:extLst>
          </p:cNvPr>
          <p:cNvSpPr>
            <a:spLocks noGrp="1"/>
          </p:cNvSpPr>
          <p:nvPr/>
        </p:nvSpPr>
        <p:spPr>
          <a:xfrm>
            <a:off x="4953000" y="2905125"/>
            <a:ext cx="59055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 dirty="0" err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專員／管理師／助理管理師：日常作業與資料管理</a:t>
            </a:r>
            <a:endParaRPr sz="1650" b="0" dirty="0">
              <a:solidFill>
                <a:srgbClr val="000000"/>
              </a:solidFill>
              <a:latin typeface="Microsoft JhengHei"/>
              <a:ea typeface="Microsoft JhengHei"/>
              <a:cs typeface="Microsoft JhengHei"/>
            </a:endParaRPr>
          </a:p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 dirty="0" err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彰濱一廠、二廠：</a:t>
            </a:r>
            <a:r>
              <a:rPr sz="1650" b="0" dirty="0" err="1" smtClean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各組長帶領現場執行人員</a:t>
            </a:r>
            <a:endParaRPr lang="en-US" sz="1650" dirty="0" smtClean="0">
              <a:solidFill>
                <a:srgbClr val="000000"/>
              </a:solidFill>
              <a:latin typeface="Microsoft JhengHei"/>
              <a:ea typeface="Microsoft JhengHei"/>
              <a:cs typeface="Microsoft JhengHei"/>
            </a:endParaRPr>
          </a:p>
          <a:p>
            <a:pPr>
              <a:defRPr sz="1650" b="0">
                <a:solidFill>
                  <a:srgbClr val="000000"/>
                </a:solidFill>
              </a:defRPr>
            </a:pPr>
            <a:r>
              <a:rPr lang="zh-TW" altLang="en-US" sz="1650" dirty="0" smtClean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組長四人</a:t>
            </a:r>
            <a:r>
              <a:rPr lang="zh-TW" altLang="en-US" sz="1650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：</a:t>
            </a:r>
            <a:r>
              <a:rPr lang="en-US" altLang="zh-TW" sz="1650" dirty="0" smtClean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 </a:t>
            </a:r>
            <a:r>
              <a:rPr lang="zh-TW" altLang="en-US" sz="1650" dirty="0" smtClean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一廠 現場 黃俊翰 倉庫 陳彥志 </a:t>
            </a:r>
            <a:r>
              <a:rPr lang="en-US" altLang="zh-TW" sz="1650" dirty="0" smtClean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/>
            </a:r>
            <a:br>
              <a:rPr lang="en-US" altLang="zh-TW" sz="1650" dirty="0" smtClean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</a:br>
            <a:r>
              <a:rPr lang="en-US" altLang="zh-TW" sz="1650" dirty="0" smtClean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	   </a:t>
            </a:r>
            <a:r>
              <a:rPr lang="zh-TW" altLang="en-US" sz="1650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二</a:t>
            </a:r>
            <a:r>
              <a:rPr lang="zh-TW" altLang="en-US" sz="1650" dirty="0" smtClean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廠  現場 張立杰 </a:t>
            </a:r>
            <a:r>
              <a:rPr lang="zh-TW" altLang="en-US" sz="1650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倉庫 </a:t>
            </a:r>
            <a:r>
              <a:rPr lang="zh-TW" altLang="en-US" sz="1650" dirty="0" smtClean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黃宏吉 </a:t>
            </a:r>
            <a:r>
              <a:rPr lang="en-US" altLang="zh-TW" sz="1650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/>
            </a:r>
            <a:br>
              <a:rPr lang="en-US" altLang="zh-TW" sz="1650" dirty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</a:br>
            <a:endParaRPr sz="1650" b="0" dirty="0">
              <a:solidFill>
                <a:srgbClr val="00000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03B2700-81CC-4C18-9048-C6D837BA635A}"/>
              </a:ext>
            </a:extLst>
          </p:cNvPr>
          <p:cNvSpPr>
            <a:spLocks noGrp="1"/>
          </p:cNvSpPr>
          <p:nvPr/>
        </p:nvSpPr>
        <p:spPr>
          <a:xfrm>
            <a:off x="714375" y="5143500"/>
            <a:ext cx="9334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核心任務：安全、正確、可追溯地管理物料流動</a:t>
            </a:r>
          </a:p>
        </p:txBody>
      </p:sp>
    </p:spTree>
    <p:extLst>
      <p:ext uri="{BB962C8B-B14F-4D97-AF65-F5344CB8AC3E}">
        <p14:creationId xmlns:p14="http://schemas.microsoft.com/office/powerpoint/2010/main" val="3040351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B7E8FA3C-5FC9-42F9-9EC1-5B67CD690546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進出貨與倉儲全流程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270BE2-FB2B-4B55-98FC-525E14E75FB6}"/>
              </a:ext>
            </a:extLst>
          </p:cNvPr>
          <p:cNvSpPr>
            <a:spLocks noGrp="1"/>
          </p:cNvSpPr>
          <p:nvPr/>
        </p:nvSpPr>
        <p:spPr>
          <a:xfrm>
            <a:off x="571500" y="1190625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66666"/>
                </a:solidFill>
              </a:defRPr>
            </a:pPr>
            <a:r>
              <a:rPr sz="1650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三個作業階段共同支撐安全、品質與庫存控制，最後回寫 ERP／MES。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72F2D0-ED46-43D9-9CF0-9930EBBA51C9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2857500" cy="514350"/>
          </a:xfrm>
          <a:prstGeom prst="rect">
            <a:avLst/>
          </a:prstGeom>
          <a:solidFill>
            <a:srgbClr val="5B9BD5"/>
          </a:solidFill>
          <a:ln w="9525">
            <a:solidFill>
              <a:srgbClr val="5B9BD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D9C5BB8-7F6C-4459-86B6-8820A3BF28B9}"/>
              </a:ext>
            </a:extLst>
          </p:cNvPr>
          <p:cNvSpPr>
            <a:spLocks noGrp="1"/>
          </p:cNvSpPr>
          <p:nvPr/>
        </p:nvSpPr>
        <p:spPr>
          <a:xfrm>
            <a:off x="781050" y="2286000"/>
            <a:ext cx="2628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01 進貨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9373095-9E79-4513-BA40-82B70E232DF2}"/>
              </a:ext>
            </a:extLst>
          </p:cNvPr>
          <p:cNvSpPr>
            <a:spLocks noGrp="1"/>
          </p:cNvSpPr>
          <p:nvPr/>
        </p:nvSpPr>
        <p:spPr>
          <a:xfrm>
            <a:off x="876300" y="3048000"/>
            <a:ext cx="2476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單據／接地／取樣／卸料</a:t>
            </a:r>
          </a:p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品名／數量／外觀／棧板</a:t>
            </a:r>
          </a:p>
        </p:txBody>
      </p:sp>
      <p:sp>
        <p:nvSpPr>
          <p:cNvPr id="6" name="向右箭號 5">
            <a:extLst>
              <a:ext uri="{FF2B5EF4-FFF2-40B4-BE49-F238E27FC236}">
                <a16:creationId xmlns:a16="http://schemas.microsoft.com/office/drawing/2014/main" id="{434BCE7C-11BA-46BC-B7EA-4C90A80CA74D}"/>
              </a:ext>
            </a:extLst>
          </p:cNvPr>
          <p:cNvSpPr>
            <a:spLocks noGrp="1"/>
          </p:cNvSpPr>
          <p:nvPr/>
        </p:nvSpPr>
        <p:spPr>
          <a:xfrm>
            <a:off x="3762375" y="3190875"/>
            <a:ext cx="552450" cy="40005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4311AAF-4DA9-4962-9EC7-89515B6A4CB6}"/>
              </a:ext>
            </a:extLst>
          </p:cNvPr>
          <p:cNvSpPr>
            <a:spLocks noGrp="1"/>
          </p:cNvSpPr>
          <p:nvPr/>
        </p:nvSpPr>
        <p:spPr>
          <a:xfrm>
            <a:off x="4572000" y="2190750"/>
            <a:ext cx="2857500" cy="514350"/>
          </a:xfrm>
          <a:prstGeom prst="rect">
            <a:avLst/>
          </a:prstGeom>
          <a:solidFill>
            <a:srgbClr val="5B9BD5"/>
          </a:solidFill>
          <a:ln w="9525">
            <a:solidFill>
              <a:srgbClr val="5B9BD5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C57B4E-0CE1-461E-9361-8C325EDB1C39}"/>
              </a:ext>
            </a:extLst>
          </p:cNvPr>
          <p:cNvSpPr>
            <a:spLocks noGrp="1"/>
          </p:cNvSpPr>
          <p:nvPr/>
        </p:nvSpPr>
        <p:spPr>
          <a:xfrm>
            <a:off x="4686300" y="2286000"/>
            <a:ext cx="2628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02 儲存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9B2BA09-65D0-4664-A7FC-57F6750D4511}"/>
              </a:ext>
            </a:extLst>
          </p:cNvPr>
          <p:cNvSpPr>
            <a:spLocks noGrp="1"/>
          </p:cNvSpPr>
          <p:nvPr/>
        </p:nvSpPr>
        <p:spPr>
          <a:xfrm>
            <a:off x="4781550" y="3048000"/>
            <a:ext cx="2476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液位／壓力／溫控／耗材</a:t>
            </a:r>
          </a:p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環境／FIFO／堆疊／標示</a:t>
            </a:r>
          </a:p>
        </p:txBody>
      </p:sp>
      <p:sp>
        <p:nvSpPr>
          <p:cNvPr id="10" name="向右箭號 9">
            <a:extLst>
              <a:ext uri="{FF2B5EF4-FFF2-40B4-BE49-F238E27FC236}">
                <a16:creationId xmlns:a16="http://schemas.microsoft.com/office/drawing/2014/main" id="{8A917599-6B28-4B88-A635-6508EACC60C3}"/>
              </a:ext>
            </a:extLst>
          </p:cNvPr>
          <p:cNvSpPr>
            <a:spLocks noGrp="1"/>
          </p:cNvSpPr>
          <p:nvPr/>
        </p:nvSpPr>
        <p:spPr>
          <a:xfrm>
            <a:off x="7667625" y="3190875"/>
            <a:ext cx="552450" cy="400050"/>
          </a:xfrm>
          <a:prstGeom prst="rightArrow">
            <a:avLst/>
          </a:prstGeom>
          <a:solidFill>
            <a:srgbClr val="5B9BD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147047-3E44-4ACE-9DA8-84F868BE2C96}"/>
              </a:ext>
            </a:extLst>
          </p:cNvPr>
          <p:cNvSpPr>
            <a:spLocks noGrp="1"/>
          </p:cNvSpPr>
          <p:nvPr/>
        </p:nvSpPr>
        <p:spPr>
          <a:xfrm>
            <a:off x="8477250" y="2190750"/>
            <a:ext cx="2857500" cy="514350"/>
          </a:xfrm>
          <a:prstGeom prst="rect">
            <a:avLst/>
          </a:prstGeom>
          <a:solidFill>
            <a:srgbClr val="5B9BD5"/>
          </a:solidFill>
          <a:ln w="9525">
            <a:solidFill>
              <a:srgbClr val="5B9BD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CA232E-E012-4266-9820-8B7605A278EA}"/>
              </a:ext>
            </a:extLst>
          </p:cNvPr>
          <p:cNvSpPr>
            <a:spLocks noGrp="1"/>
          </p:cNvSpPr>
          <p:nvPr/>
        </p:nvSpPr>
        <p:spPr>
          <a:xfrm>
            <a:off x="8591550" y="2286000"/>
            <a:ext cx="2628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03 出貨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45DC967-6631-4216-95C4-90A63DC8B864}"/>
              </a:ext>
            </a:extLst>
          </p:cNvPr>
          <p:cNvSpPr>
            <a:spLocks noGrp="1"/>
          </p:cNvSpPr>
          <p:nvPr/>
        </p:nvSpPr>
        <p:spPr>
          <a:xfrm>
            <a:off x="8686800" y="3048000"/>
            <a:ext cx="2476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清潔／Flush／灌裝／封籤</a:t>
            </a:r>
          </a:p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空桶／重量／裝櫃核對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65BAC19-64E8-436E-BED4-1AE238AFFDE9}"/>
              </a:ext>
            </a:extLst>
          </p:cNvPr>
          <p:cNvSpPr>
            <a:spLocks noGrp="1"/>
          </p:cNvSpPr>
          <p:nvPr/>
        </p:nvSpPr>
        <p:spPr>
          <a:xfrm>
            <a:off x="2952750" y="5048250"/>
            <a:ext cx="6286500" cy="533400"/>
          </a:xfrm>
          <a:prstGeom prst="rect">
            <a:avLst/>
          </a:prstGeom>
          <a:solidFill>
            <a:srgbClr val="E7EFF7"/>
          </a:solidFill>
          <a:ln w="9525">
            <a:solidFill>
              <a:srgbClr val="6B91B5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1007E6-120D-44D3-BCC4-115D4A833FC4}"/>
              </a:ext>
            </a:extLst>
          </p:cNvPr>
          <p:cNvSpPr>
            <a:spLocks noGrp="1"/>
          </p:cNvSpPr>
          <p:nvPr/>
        </p:nvSpPr>
        <p:spPr>
          <a:xfrm>
            <a:off x="3143250" y="518160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ERP／MES　→　自動化單據、庫存異動與稽核紀錄</a:t>
            </a:r>
          </a:p>
        </p:txBody>
      </p:sp>
    </p:spTree>
    <p:extLst>
      <p:ext uri="{BB962C8B-B14F-4D97-AF65-F5344CB8AC3E}">
        <p14:creationId xmlns:p14="http://schemas.microsoft.com/office/powerpoint/2010/main" val="3255811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F6AC2605-11D4-41A4-9876-859C9632274E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進貨作業管制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AC33E7-884E-4A22-97C6-42C4B49D5A5E}"/>
              </a:ext>
            </a:extLst>
          </p:cNvPr>
          <p:cNvSpPr>
            <a:spLocks noGrp="1"/>
          </p:cNvSpPr>
          <p:nvPr/>
        </p:nvSpPr>
        <p:spPr>
          <a:xfrm>
            <a:off x="571500" y="1190625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進貨先確認「對不對、安不安全、能不能接收」。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FDDD295-8056-4277-924C-F048B0A06694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4762500" cy="514350"/>
          </a:xfrm>
          <a:prstGeom prst="rect">
            <a:avLst/>
          </a:prstGeom>
          <a:solidFill>
            <a:srgbClr val="5B9BD5"/>
          </a:solidFill>
          <a:ln w="9525">
            <a:solidFill>
              <a:srgbClr val="5B9BD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22AEED-1294-4B0F-A95E-238188627D98}"/>
              </a:ext>
            </a:extLst>
          </p:cNvPr>
          <p:cNvSpPr>
            <a:spLocks noGrp="1"/>
          </p:cNvSpPr>
          <p:nvPr/>
        </p:nvSpPr>
        <p:spPr>
          <a:xfrm>
            <a:off x="781050" y="2143125"/>
            <a:ext cx="453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散裝槽車｜卸料防呆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9C8CA7-94EE-4E97-B286-50262E9D8580}"/>
              </a:ext>
            </a:extLst>
          </p:cNvPr>
          <p:cNvSpPr>
            <a:spLocks noGrp="1"/>
          </p:cNvSpPr>
          <p:nvPr/>
        </p:nvSpPr>
        <p:spPr>
          <a:xfrm>
            <a:off x="876300" y="285750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1. 單據與槽別、品名核對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8D8C84-7969-46D0-AD98-B2642B9F223B}"/>
              </a:ext>
            </a:extLst>
          </p:cNvPr>
          <p:cNvSpPr>
            <a:spLocks noGrp="1"/>
          </p:cNvSpPr>
          <p:nvPr/>
        </p:nvSpPr>
        <p:spPr>
          <a:xfrm>
            <a:off x="876300" y="331470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2. 輪檔定位；防靜電接地 &lt; 10Ω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30C68B6-387C-45D6-A351-5C5207A959D3}"/>
              </a:ext>
            </a:extLst>
          </p:cNvPr>
          <p:cNvSpPr>
            <a:spLocks noGrp="1"/>
          </p:cNvSpPr>
          <p:nvPr/>
        </p:nvSpPr>
        <p:spPr>
          <a:xfrm>
            <a:off x="876300" y="377190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3. 品管取樣合格後才可接管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E71C97-68DA-4BE0-B5C2-70EDE2B73209}"/>
              </a:ext>
            </a:extLst>
          </p:cNvPr>
          <p:cNvSpPr>
            <a:spLocks noGrp="1"/>
          </p:cNvSpPr>
          <p:nvPr/>
        </p:nvSpPr>
        <p:spPr>
          <a:xfrm>
            <a:off x="876300" y="422910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4. 卸料完成後氮氣壓空與洩壓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0B8960B-841D-4385-A89B-B63CCA3D2BC5}"/>
              </a:ext>
            </a:extLst>
          </p:cNvPr>
          <p:cNvSpPr>
            <a:spLocks noGrp="1"/>
          </p:cNvSpPr>
          <p:nvPr/>
        </p:nvSpPr>
        <p:spPr>
          <a:xfrm>
            <a:off x="6191250" y="2047875"/>
            <a:ext cx="5143500" cy="514350"/>
          </a:xfrm>
          <a:prstGeom prst="rect">
            <a:avLst/>
          </a:prstGeom>
          <a:solidFill>
            <a:srgbClr val="5B9BD5"/>
          </a:solidFill>
          <a:ln w="9525">
            <a:solidFill>
              <a:srgbClr val="5B9BD5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C78756-20AB-4C51-896D-388BA519EA1D}"/>
              </a:ext>
            </a:extLst>
          </p:cNvPr>
          <p:cNvSpPr>
            <a:spLocks noGrp="1"/>
          </p:cNvSpPr>
          <p:nvPr/>
        </p:nvSpPr>
        <p:spPr>
          <a:xfrm>
            <a:off x="6305550" y="2143125"/>
            <a:ext cx="4914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小包材｜200L／1T／Pails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BE402CC-2543-4D01-9229-767DA8DB8E64}"/>
              </a:ext>
            </a:extLst>
          </p:cNvPr>
          <p:cNvSpPr>
            <a:spLocks noGrp="1"/>
          </p:cNvSpPr>
          <p:nvPr/>
        </p:nvSpPr>
        <p:spPr>
          <a:xfrm>
            <a:off x="6400800" y="2857500"/>
            <a:ext cx="466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1. 入廠核對品名與數量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EF87719-F750-4D45-8135-4DC36BA5A5FA}"/>
              </a:ext>
            </a:extLst>
          </p:cNvPr>
          <p:cNvSpPr>
            <a:spLocks noGrp="1"/>
          </p:cNvSpPr>
          <p:nvPr/>
        </p:nvSpPr>
        <p:spPr>
          <a:xfrm>
            <a:off x="6400800" y="3314700"/>
            <a:ext cx="466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2. 檢查破損與清潔度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0FDF92-2C0F-4967-B646-5823661B1FF1}"/>
              </a:ext>
            </a:extLst>
          </p:cNvPr>
          <p:cNvSpPr>
            <a:spLocks noGrp="1"/>
          </p:cNvSpPr>
          <p:nvPr/>
        </p:nvSpPr>
        <p:spPr>
          <a:xfrm>
            <a:off x="6400800" y="3771900"/>
            <a:ext cx="466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3. 確認棧板完整性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E497D1E-7ECC-4C20-B254-18DAEDE92619}"/>
              </a:ext>
            </a:extLst>
          </p:cNvPr>
          <p:cNvSpPr>
            <a:spLocks noGrp="1"/>
          </p:cNvSpPr>
          <p:nvPr/>
        </p:nvSpPr>
        <p:spPr>
          <a:xfrm>
            <a:off x="6400800" y="4229100"/>
            <a:ext cx="466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4. 不符合項目隔離並回報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A92394-EEF6-49C7-8A4E-C228C5888AD1}"/>
              </a:ext>
            </a:extLst>
          </p:cNvPr>
          <p:cNvSpPr>
            <a:spLocks noGrp="1"/>
          </p:cNvSpPr>
          <p:nvPr/>
        </p:nvSpPr>
        <p:spPr>
          <a:xfrm>
            <a:off x="762000" y="5381625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放行條件：單據一致＋安全條件完成＋品管確認合格</a:t>
            </a:r>
          </a:p>
        </p:txBody>
      </p:sp>
    </p:spTree>
    <p:extLst>
      <p:ext uri="{BB962C8B-B14F-4D97-AF65-F5344CB8AC3E}">
        <p14:creationId xmlns:p14="http://schemas.microsoft.com/office/powerpoint/2010/main" val="3255811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971CBBD9-DA9D-4D71-BCB0-7EAFFC3545B0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倉儲儲存管制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4B249A-1E2A-4AB8-A9D4-9F12C7F93166}"/>
              </a:ext>
            </a:extLst>
          </p:cNvPr>
          <p:cNvSpPr>
            <a:spLocks noGrp="1"/>
          </p:cNvSpPr>
          <p:nvPr/>
        </p:nvSpPr>
        <p:spPr>
          <a:xfrm>
            <a:off x="571500" y="1190625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維持品質穩定，並讓庫存遵循先進先出原則。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6DFA2C6-82BA-4CCA-B7C8-CB334C751CE5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4762500" cy="514350"/>
          </a:xfrm>
          <a:prstGeom prst="rect">
            <a:avLst/>
          </a:prstGeom>
          <a:solidFill>
            <a:srgbClr val="5B9BD5"/>
          </a:solidFill>
          <a:ln w="9525">
            <a:solidFill>
              <a:srgbClr val="5B9BD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206F7D-93D6-4809-A514-057EA2035564}"/>
              </a:ext>
            </a:extLst>
          </p:cNvPr>
          <p:cNvSpPr>
            <a:spLocks noGrp="1"/>
          </p:cNvSpPr>
          <p:nvPr/>
        </p:nvSpPr>
        <p:spPr>
          <a:xfrm>
            <a:off x="781050" y="2143125"/>
            <a:ext cx="453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散裝儲槽管理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F89D12-A4A5-4FF0-AEB5-78261D0CEA03}"/>
              </a:ext>
            </a:extLst>
          </p:cNvPr>
          <p:cNvSpPr>
            <a:spLocks noGrp="1"/>
          </p:cNvSpPr>
          <p:nvPr/>
        </p:nvSpPr>
        <p:spPr>
          <a:xfrm>
            <a:off x="876300" y="2905125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1. 每日巡檢液位、壓力與異常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8386EC1-CB99-4448-B756-ACFE0CC891A5}"/>
              </a:ext>
            </a:extLst>
          </p:cNvPr>
          <p:cNvSpPr>
            <a:spLocks noGrp="1"/>
          </p:cNvSpPr>
          <p:nvPr/>
        </p:nvSpPr>
        <p:spPr>
          <a:xfrm>
            <a:off x="876300" y="3457575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2. GAA 氣溫低於 16°C 啟動保溫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65B41-D2DC-4D71-B344-5526CB232949}"/>
              </a:ext>
            </a:extLst>
          </p:cNvPr>
          <p:cNvSpPr>
            <a:spLocks noGrp="1"/>
          </p:cNvSpPr>
          <p:nvPr/>
        </p:nvSpPr>
        <p:spPr>
          <a:xfrm>
            <a:off x="876300" y="4010025"/>
            <a:ext cx="4286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3. 過濾袋壓差 &gt; 2 kg/cm² 或滿一年更換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CA87FE-5281-4EAB-8D4B-3B3534D2DE9A}"/>
              </a:ext>
            </a:extLst>
          </p:cNvPr>
          <p:cNvSpPr>
            <a:spLocks noGrp="1"/>
          </p:cNvSpPr>
          <p:nvPr/>
        </p:nvSpPr>
        <p:spPr>
          <a:xfrm>
            <a:off x="6191250" y="2047875"/>
            <a:ext cx="5143500" cy="514350"/>
          </a:xfrm>
          <a:prstGeom prst="rect">
            <a:avLst/>
          </a:prstGeom>
          <a:solidFill>
            <a:srgbClr val="5B9BD5"/>
          </a:solidFill>
          <a:ln w="9525">
            <a:solidFill>
              <a:srgbClr val="5B9BD5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89BB4F1-1CCC-4042-BFEC-82F7FEF5C3A2}"/>
              </a:ext>
            </a:extLst>
          </p:cNvPr>
          <p:cNvSpPr>
            <a:spLocks noGrp="1"/>
          </p:cNvSpPr>
          <p:nvPr/>
        </p:nvSpPr>
        <p:spPr>
          <a:xfrm>
            <a:off x="6305550" y="2143125"/>
            <a:ext cx="4914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小包材庫存管理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D0FD68F-ABBB-4D1A-942E-D723BE273F50}"/>
              </a:ext>
            </a:extLst>
          </p:cNvPr>
          <p:cNvSpPr>
            <a:spLocks noGrp="1"/>
          </p:cNvSpPr>
          <p:nvPr/>
        </p:nvSpPr>
        <p:spPr>
          <a:xfrm>
            <a:off x="6400800" y="2905125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1. 巡檢溫濕度與通風條件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EFF82EC-540A-407B-9800-674D58815723}"/>
              </a:ext>
            </a:extLst>
          </p:cNvPr>
          <p:cNvSpPr>
            <a:spLocks noGrp="1"/>
          </p:cNvSpPr>
          <p:nvPr/>
        </p:nvSpPr>
        <p:spPr>
          <a:xfrm>
            <a:off x="6400800" y="3457575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2. 落實 FIFO（先進先出）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382C869-C280-471E-A9F9-3663E4B77AC9}"/>
              </a:ext>
            </a:extLst>
          </p:cNvPr>
          <p:cNvSpPr>
            <a:spLocks noGrp="1"/>
          </p:cNvSpPr>
          <p:nvPr/>
        </p:nvSpPr>
        <p:spPr>
          <a:xfrm>
            <a:off x="6400800" y="4010025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3. 規範堆疊高度、傾倒防護與入庫標示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215B0A3-8CDA-415E-BB88-0025CC31733C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1047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巡檢結果要被記錄、追蹤，才能支援定檢與庫存盤點。</a:t>
            </a:r>
          </a:p>
        </p:txBody>
      </p:sp>
    </p:spTree>
    <p:extLst>
      <p:ext uri="{BB962C8B-B14F-4D97-AF65-F5344CB8AC3E}">
        <p14:creationId xmlns:p14="http://schemas.microsoft.com/office/powerpoint/2010/main" val="3255811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7103E509-9A23-4B3E-B2FD-87BE0A7B532A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出貨灌裝管制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D9EE79F-E387-4D58-81ED-7B697520331F}"/>
              </a:ext>
            </a:extLst>
          </p:cNvPr>
          <p:cNvSpPr>
            <a:spLocks noGrp="1"/>
          </p:cNvSpPr>
          <p:nvPr/>
        </p:nvSpPr>
        <p:spPr>
          <a:xfrm>
            <a:off x="571500" y="1190625"/>
            <a:ext cx="10668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以純度、重量、封裝與現場安全作為出貨放行底線。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C88B2C1-C030-4AA9-906D-C09EBF8C3ACA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4762500" cy="514350"/>
          </a:xfrm>
          <a:prstGeom prst="rect">
            <a:avLst/>
          </a:prstGeom>
          <a:solidFill>
            <a:srgbClr val="5B9BD5"/>
          </a:solidFill>
          <a:ln w="9525">
            <a:solidFill>
              <a:srgbClr val="5B9BD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1EF2D66-F942-447E-A839-159F410E12EE}"/>
              </a:ext>
            </a:extLst>
          </p:cNvPr>
          <p:cNvSpPr>
            <a:spLocks noGrp="1"/>
          </p:cNvSpPr>
          <p:nvPr/>
        </p:nvSpPr>
        <p:spPr>
          <a:xfrm>
            <a:off x="781050" y="2143125"/>
            <a:ext cx="4533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散裝與 ISO TANK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2A34726-915F-433B-862D-C9B3B48804AA}"/>
              </a:ext>
            </a:extLst>
          </p:cNvPr>
          <p:cNvSpPr>
            <a:spLocks noGrp="1"/>
          </p:cNvSpPr>
          <p:nvPr/>
        </p:nvSpPr>
        <p:spPr>
          <a:xfrm>
            <a:off x="876300" y="285750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1. 出廠安檢：內部與外觀清潔度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954141-CB01-413D-A419-D64BD3AEF7E2}"/>
              </a:ext>
            </a:extLst>
          </p:cNvPr>
          <p:cNvSpPr>
            <a:spLocks noGrp="1"/>
          </p:cNvSpPr>
          <p:nvPr/>
        </p:nvSpPr>
        <p:spPr>
          <a:xfrm>
            <a:off x="876300" y="331470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2. 灌裝前 Flush：工業級 40L／電子級 200L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2AEB92-467A-47A5-8F56-E434BD26706E}"/>
              </a:ext>
            </a:extLst>
          </p:cNvPr>
          <p:cNvSpPr>
            <a:spLocks noGrp="1"/>
          </p:cNvSpPr>
          <p:nvPr/>
        </p:nvSpPr>
        <p:spPr>
          <a:xfrm>
            <a:off x="876300" y="377190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3. EBR 預先攪拌；操作員不得離場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2610268-1868-4AB3-8DBF-A00ED3829935}"/>
              </a:ext>
            </a:extLst>
          </p:cNvPr>
          <p:cNvSpPr>
            <a:spLocks noGrp="1"/>
          </p:cNvSpPr>
          <p:nvPr/>
        </p:nvSpPr>
        <p:spPr>
          <a:xfrm>
            <a:off x="876300" y="4229100"/>
            <a:ext cx="4286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4. 氮氣壓空、洩壓並加防偽封籤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2399EE-AC55-4466-8AB8-EDF28317AAE9}"/>
              </a:ext>
            </a:extLst>
          </p:cNvPr>
          <p:cNvSpPr>
            <a:spLocks noGrp="1"/>
          </p:cNvSpPr>
          <p:nvPr/>
        </p:nvSpPr>
        <p:spPr>
          <a:xfrm>
            <a:off x="6191250" y="2047875"/>
            <a:ext cx="5143500" cy="514350"/>
          </a:xfrm>
          <a:prstGeom prst="rect">
            <a:avLst/>
          </a:prstGeom>
          <a:solidFill>
            <a:srgbClr val="5B9BD5"/>
          </a:solidFill>
          <a:ln w="9525">
            <a:solidFill>
              <a:srgbClr val="5B9BD5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1ABDEFF-E63D-40D1-84F0-918388D3FF72}"/>
              </a:ext>
            </a:extLst>
          </p:cNvPr>
          <p:cNvSpPr>
            <a:spLocks noGrp="1"/>
          </p:cNvSpPr>
          <p:nvPr/>
        </p:nvSpPr>
        <p:spPr>
          <a:xfrm>
            <a:off x="6305550" y="2143125"/>
            <a:ext cx="4914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小包材灌裝出貨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06DE06-0877-4D78-AB37-7E5E90BEF032}"/>
              </a:ext>
            </a:extLst>
          </p:cNvPr>
          <p:cNvSpPr>
            <a:spLocks noGrp="1"/>
          </p:cNvSpPr>
          <p:nvPr/>
        </p:nvSpPr>
        <p:spPr>
          <a:xfrm>
            <a:off x="6400800" y="28575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1. 空桶內部清潔度抽檢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B78FB9C-F2CF-46D0-A2E8-9EBEA144AAB1}"/>
              </a:ext>
            </a:extLst>
          </p:cNvPr>
          <p:cNvSpPr>
            <a:spLocks noGrp="1"/>
          </p:cNvSpPr>
          <p:nvPr/>
        </p:nvSpPr>
        <p:spPr>
          <a:xfrm>
            <a:off x="6400800" y="340995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2. 灌裝重量與液位嚴格檢核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A9EEA4D-6F64-4F3E-BEEB-6821DA0FC1AB}"/>
              </a:ext>
            </a:extLst>
          </p:cNvPr>
          <p:cNvSpPr>
            <a:spLocks noGrp="1"/>
          </p:cNvSpPr>
          <p:nvPr/>
        </p:nvSpPr>
        <p:spPr>
          <a:xfrm>
            <a:off x="6400800" y="3962400"/>
            <a:ext cx="4667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3. 封蓋、標示、裝櫃與疊板核對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82DA6A5-B1E9-4590-B161-7870591DF33F}"/>
              </a:ext>
            </a:extLst>
          </p:cNvPr>
          <p:cNvSpPr>
            <a:spLocks noGrp="1"/>
          </p:cNvSpPr>
          <p:nvPr/>
        </p:nvSpPr>
        <p:spPr>
          <a:xfrm>
            <a:off x="762000" y="5381625"/>
            <a:ext cx="10477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放行條件：清潔確認＋灌裝數據正確＋封裝與裝櫃完成</a:t>
            </a:r>
          </a:p>
        </p:txBody>
      </p:sp>
    </p:spTree>
    <p:extLst>
      <p:ext uri="{BB962C8B-B14F-4D97-AF65-F5344CB8AC3E}">
        <p14:creationId xmlns:p14="http://schemas.microsoft.com/office/powerpoint/2010/main" val="32558118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52258DA1-1A07-4F5D-B8E6-B1DE0A47E4CA}"/>
              </a:ext>
            </a:extLst>
          </p:cNvPr>
          <p:cNvSpPr>
            <a:spLocks noGrp="1"/>
          </p:cNvSpPr>
          <p:nvPr/>
        </p:nvSpPr>
        <p:spPr>
          <a:xfrm>
            <a:off x="457200" y="381000"/>
            <a:ext cx="8763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現況與後續方向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98B586-D694-4166-B5C3-43647F222DDB}"/>
              </a:ext>
            </a:extLst>
          </p:cNvPr>
          <p:cNvSpPr>
            <a:spLocks noGrp="1"/>
          </p:cNvSpPr>
          <p:nvPr/>
        </p:nvSpPr>
        <p:spPr>
          <a:xfrm>
            <a:off x="571500" y="1190625"/>
            <a:ext cx="1066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666666"/>
                </a:solidFill>
              </a:defRPr>
            </a:pPr>
            <a:r>
              <a:rPr sz="1650" b="0">
                <a:solidFill>
                  <a:srgbClr val="666666"/>
                </a:solidFill>
                <a:latin typeface="Microsoft JhengHei"/>
                <a:ea typeface="Microsoft JhengHei"/>
                <a:cs typeface="Microsoft JhengHei"/>
              </a:rPr>
              <a:t>目前已建立 SOP、安全防呆與品管連動；後續以資訊化與訓練，讓流程更即時、更可追溯。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AA5E5C-C1D1-4C36-A55C-CD89156D92A4}"/>
              </a:ext>
            </a:extLst>
          </p:cNvPr>
          <p:cNvSpPr>
            <a:spLocks noGrp="1"/>
          </p:cNvSpPr>
          <p:nvPr/>
        </p:nvSpPr>
        <p:spPr>
          <a:xfrm>
            <a:off x="666750" y="2190750"/>
            <a:ext cx="2857500" cy="514350"/>
          </a:xfrm>
          <a:prstGeom prst="rect">
            <a:avLst/>
          </a:prstGeom>
          <a:solidFill>
            <a:srgbClr val="5B9BD5"/>
          </a:solidFill>
          <a:ln w="9525">
            <a:solidFill>
              <a:srgbClr val="5B9BD5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9FD0D2-C3FE-4A0D-B53A-2932B4A9F21A}"/>
              </a:ext>
            </a:extLst>
          </p:cNvPr>
          <p:cNvSpPr>
            <a:spLocks noGrp="1"/>
          </p:cNvSpPr>
          <p:nvPr/>
        </p:nvSpPr>
        <p:spPr>
          <a:xfrm>
            <a:off x="781050" y="2286000"/>
            <a:ext cx="2628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資訊化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7E9CE6E-C38B-4A80-946B-A1949C7DDA9C}"/>
              </a:ext>
            </a:extLst>
          </p:cNvPr>
          <p:cNvSpPr>
            <a:spLocks noGrp="1"/>
          </p:cNvSpPr>
          <p:nvPr/>
        </p:nvSpPr>
        <p:spPr>
          <a:xfrm>
            <a:off x="876300" y="3095625"/>
            <a:ext cx="247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逐步汰換紙本</a:t>
            </a:r>
          </a:p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導入 ERP／PDA 即時查驗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2EB2785-867B-44BF-B671-E8FE6065EB78}"/>
              </a:ext>
            </a:extLst>
          </p:cNvPr>
          <p:cNvSpPr>
            <a:spLocks noGrp="1"/>
          </p:cNvSpPr>
          <p:nvPr/>
        </p:nvSpPr>
        <p:spPr>
          <a:xfrm>
            <a:off x="4667250" y="2190750"/>
            <a:ext cx="2857500" cy="514350"/>
          </a:xfrm>
          <a:prstGeom prst="rect">
            <a:avLst/>
          </a:prstGeom>
          <a:solidFill>
            <a:srgbClr val="5B9BD5"/>
          </a:solidFill>
          <a:ln w="9525">
            <a:solidFill>
              <a:srgbClr val="5B9BD5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AD044B-A61C-480B-9604-41153E6CE35E}"/>
              </a:ext>
            </a:extLst>
          </p:cNvPr>
          <p:cNvSpPr>
            <a:spLocks noGrp="1"/>
          </p:cNvSpPr>
          <p:nvPr/>
        </p:nvSpPr>
        <p:spPr>
          <a:xfrm>
            <a:off x="4781550" y="2286000"/>
            <a:ext cx="2628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訓練防呆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374CAD-A314-4A4F-B0AC-AD4F58FFF26D}"/>
              </a:ext>
            </a:extLst>
          </p:cNvPr>
          <p:cNvSpPr>
            <a:spLocks noGrp="1"/>
          </p:cNvSpPr>
          <p:nvPr/>
        </p:nvSpPr>
        <p:spPr>
          <a:xfrm>
            <a:off x="4876800" y="3095625"/>
            <a:ext cx="247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持續落實 SOP</a:t>
            </a:r>
          </a:p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雙人核對與全程監控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7AD4C4B-9304-4C0D-80CB-A86159311E9B}"/>
              </a:ext>
            </a:extLst>
          </p:cNvPr>
          <p:cNvSpPr>
            <a:spLocks noGrp="1"/>
          </p:cNvSpPr>
          <p:nvPr/>
        </p:nvSpPr>
        <p:spPr>
          <a:xfrm>
            <a:off x="8667750" y="2190750"/>
            <a:ext cx="2857500" cy="514350"/>
          </a:xfrm>
          <a:prstGeom prst="rect">
            <a:avLst/>
          </a:prstGeom>
          <a:solidFill>
            <a:srgbClr val="5B9BD5"/>
          </a:solidFill>
          <a:ln w="9525">
            <a:solidFill>
              <a:srgbClr val="5B9BD5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C0AD5BC-E841-4A39-998C-BC342FD8138F}"/>
              </a:ext>
            </a:extLst>
          </p:cNvPr>
          <p:cNvSpPr>
            <a:spLocks noGrp="1"/>
          </p:cNvSpPr>
          <p:nvPr/>
        </p:nvSpPr>
        <p:spPr>
          <a:xfrm>
            <a:off x="8782050" y="2286000"/>
            <a:ext cx="2628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安全品質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754336-AF32-4F6B-8C11-77F7D577B077}"/>
              </a:ext>
            </a:extLst>
          </p:cNvPr>
          <p:cNvSpPr>
            <a:spLocks noGrp="1"/>
          </p:cNvSpPr>
          <p:nvPr/>
        </p:nvSpPr>
        <p:spPr>
          <a:xfrm>
            <a:off x="8877300" y="3095625"/>
            <a:ext cx="2476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強化高處防護、溫控</a:t>
            </a:r>
          </a:p>
          <a:p>
            <a:pPr algn="l">
              <a:buNone/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IQC／IPQC／FQC 連動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04657CE-154D-4928-9A4C-C46B159FC338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10477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核心目標：安全作業、品質穩定、庫存正確、全程可追溯。</a:t>
            </a:r>
          </a:p>
        </p:txBody>
      </p:sp>
    </p:spTree>
    <p:extLst>
      <p:ext uri="{BB962C8B-B14F-4D97-AF65-F5344CB8AC3E}">
        <p14:creationId xmlns:p14="http://schemas.microsoft.com/office/powerpoint/2010/main" val="325581181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351</Words>
  <Application>Microsoft Office PowerPoint</Application>
  <DocSecurity>0</DocSecurity>
  <PresentationFormat>寬螢幕</PresentationFormat>
  <Paragraphs>82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Microsoft JhengHei</vt:lpstr>
      <vt:lpstr>Arial</vt:lpstr>
      <vt:lpstr>Calibri</vt:lpstr>
      <vt:lpstr>Calibri Light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鴻勝化學-陳世偉</cp:lastModifiedBy>
  <cp:revision>2</cp:revision>
  <dcterms:created xsi:type="dcterms:W3CDTF">2026-09-03T05:06:37Z</dcterms:created>
  <dcterms:modified xsi:type="dcterms:W3CDTF">2026-09-03T11:44:38Z</dcterms:modified>
</cp:coreProperties>
</file>