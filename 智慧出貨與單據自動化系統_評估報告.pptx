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智慧出貨與單據自動化系統 評估報告</a:t>
            </a:r>
          </a:p>
          <a:p>
            <a:pPr>
              <a:defRPr sz="2000">
                <a:solidFill>
                  <a:srgbClr val="0EA5E9"/>
                </a:solidFill>
                <a:latin typeface="Microsoft JhengHei"/>
              </a:defRPr>
            </a:pPr>
            <a:r>
              <a:t>簡報大綱與核心內容整理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389120"/>
            <a:ext cx="2286000" cy="54864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系統導入背景與目標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現狀痛點：人工作業耗時、肉眼核對容易疲勞出錯、紙本追溯困難、新人培訓成本高。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導入目標：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自動化 (Automation)：減少重複性文書與美工排版作業。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防呆化 (Error-Proofing)：透過系統卡控與條碼掃描，杜絕人為疏失。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數位化 (Digitalization)：完整記錄操作歷程，提升出貨品質與客戶滿意度。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pic>
        <p:nvPicPr>
          <p:cNvPr id="5" name="Picture 4" descr="background_automation_1788938696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一、三合一單自動產生系統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導入前 vs 導入後比較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❌ 導入前 (人工作業)：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人工核對批號，手動將 COA 圖片裁切並貼入 Excel。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格式容易跑版，耗費大量工時，且極易貼錯批號圖片。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✅ 導入後 (系統自動化)：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一鍵匯入排程表與原始圖檔。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AI\\OCR 三層降級防呆裁切，精準對位寫入 Excel。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批次產出打包 ZIP，零排版錯誤，效率提升 90% 以上。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pic>
        <p:nvPicPr>
          <p:cNvPr id="5" name="Picture 4" descr="auto_generate_workflow_17889387589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一、三合一單自動產生系統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操作流程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上傳資料：將當日出貨排程總表 (Excel) 與相關的 COA 原始截圖上傳至系統。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系統解析：系統自動解析排程批號，並啟動 OCR 進行圖片智能比對與精確裁切。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一鍵產出：點擊「產生報表」，系統於背景組合所有資料。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下載確認：直接下載打包好的 ZIP 檔，內含完美排版的三合一單與運輸通知表。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二、三合一單核對系統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導入前 vs 導入後比較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❌ 導入前 (人工核對)：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由人工肉眼比對紙本單據上的槽號、批號、地點等細節。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容易因視覺疲勞導致漏看或誤判，防線脆弱。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✅ 導入後 (數位核對)：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系統自動掃描與辨識單據內容，與後台資料庫進行交叉比對。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異常狀況即時亮紅燈並發出警示。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建立雙重防線，確保出車單據 100% 正確。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pic>
        <p:nvPicPr>
          <p:cNvPr id="5" name="Picture 4" descr="verification_system_17889388195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二、三合一單核對系統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操作流程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讀取單據：透過掃描器或檔案匯入待核對的三合一單。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關鍵提取：系統自動提取單據上的關鍵特徵（如：派車單號、批號、目的地）。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資料比對：與當日正確的出貨排程資料庫進行比對。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結果判定：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比對相符：亮綠燈，放行出車。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比對不符：亮紅燈警示，鎖定流程並要求覆核。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三、N系列 BARCODE 出貨核對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導入前 vs 導入後比較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❌ 導入前 (傳統揀貨)：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拿著紙本揀貨單到現場找貨，條碼全憑人工肉眼對照。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長相相似的產品極易拿錯（錯件、漏件），造成嚴重客訴。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✅ 導入後 (數位終端防呆)：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使用條碼掃描終端 (PDA\\掃描槍) 進行逐件刷讀。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掃錯立即發出警示音並鎖定畫面，強制防呆。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徹底消除出貨錯誤，客訴率降至極低。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pic>
        <p:nvPicPr>
          <p:cNvPr id="5" name="Picture 4" descr="barcode_pda_17889390895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554480"/>
            <a:ext cx="4389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三、N系列 BARCODE 出貨核對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4864" cy="4389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b="1" sz="2200">
                <a:solidFill>
                  <a:srgbClr val="2563EB"/>
                </a:solidFill>
                <a:latin typeface="Microsoft JhengHei"/>
              </a:defRPr>
            </a:pPr>
            <a:r>
              <a:t>操作流程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選定訂單：在終端設備上掃描出貨單條碼，載入該單應出的產品明細。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實體驗證：現場作業員對著即將出貨的實體產品，逐一掃描 N系列 Barcode。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即時防呆：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掃描正確：進度條增加。</a:t>
            </a:r>
          </a:p>
          <a:p>
            <a:pPr>
              <a:spcAft>
                <a:spcPts val="600"/>
              </a:spcAft>
              <a:defRPr b="0" sz="1600">
                <a:solidFill>
                  <a:srgbClr val="334155"/>
                </a:solidFill>
                <a:latin typeface="Microsoft JhengHei"/>
              </a:defRPr>
            </a:pPr>
            <a:r>
              <a:t>◦	掃描錯誤（非此訂單產品）：系統報警並擋下操作。</a:t>
            </a:r>
          </a:p>
          <a:p>
            <a:pPr>
              <a:spcAft>
                <a:spcPts val="6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•	完成出貨：全數掃描正確無誤後，系統才允許結案並印出最終出貨標籤。</a:t>
            </a:r>
          </a:p>
          <a:p>
            <a:pPr>
              <a:spcAft>
                <a:spcPts val="800"/>
              </a:spcAft>
              <a:defRPr b="0" sz="1800">
                <a:solidFill>
                  <a:srgbClr val="334155"/>
                </a:solidFill>
                <a:latin typeface="Microsoft JhengHei"/>
              </a:defRPr>
            </a:pPr>
            <a:r>
              <a:t>～-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JhengHei"/>
              </a:defRPr>
            </a:pPr>
            <a:r>
              <a:t>總結與預期效益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4003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400300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943100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563EB"/>
                </a:solidFill>
                <a:latin typeface="Microsoft JhengHei"/>
              </a:defRPr>
            </a:pPr>
            <a:r>
              <a:t>01</a:t>
            </a:r>
          </a:p>
          <a:p>
            <a:pPr>
              <a:spcAft>
                <a:spcPts val="0"/>
              </a:spcAft>
              <a:defRPr sz="1600">
                <a:solidFill>
                  <a:srgbClr val="334155"/>
                </a:solidFill>
                <a:latin typeface="Microsoft JhengHei"/>
              </a:defRPr>
            </a:pPr>
            <a:r>
              <a:t>時間成本大幅降低：文書處理時間從數小時縮短至數分鐘。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7580" y="1920240"/>
            <a:ext cx="24003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97580" y="1920240"/>
            <a:ext cx="2400300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6180" y="2286000"/>
            <a:ext cx="1943100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563EB"/>
                </a:solidFill>
                <a:latin typeface="Microsoft JhengHei"/>
              </a:defRPr>
            </a:pPr>
            <a:r>
              <a:t>02</a:t>
            </a:r>
          </a:p>
          <a:p>
            <a:pPr>
              <a:spcAft>
                <a:spcPts val="0"/>
              </a:spcAft>
              <a:defRPr sz="1600">
                <a:solidFill>
                  <a:srgbClr val="334155"/>
                </a:solidFill>
                <a:latin typeface="Microsoft JhengHei"/>
              </a:defRPr>
            </a:pPr>
            <a:r>
              <a:t>錯誤率趨近於零：從「人為檢查」轉變為「系統強制卡控」。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24003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20240"/>
            <a:ext cx="2400300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1943100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563EB"/>
                </a:solidFill>
                <a:latin typeface="Microsoft JhengHei"/>
              </a:defRPr>
            </a:pPr>
            <a:r>
              <a:t>03</a:t>
            </a:r>
          </a:p>
          <a:p>
            <a:pPr>
              <a:spcAft>
                <a:spcPts val="0"/>
              </a:spcAft>
              <a:defRPr sz="1600">
                <a:solidFill>
                  <a:srgbClr val="334155"/>
                </a:solidFill>
                <a:latin typeface="Microsoft JhengHei"/>
              </a:defRPr>
            </a:pPr>
            <a:r>
              <a:t>降低培訓成本：標準化的系統操作流程，新人上手更快、更不容易犯錯。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29700" y="1920240"/>
            <a:ext cx="24003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29700" y="1920240"/>
            <a:ext cx="2400300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58300" y="2286000"/>
            <a:ext cx="1943100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563EB"/>
                </a:solidFill>
                <a:latin typeface="Microsoft JhengHei"/>
              </a:defRPr>
            </a:pPr>
            <a:r>
              <a:t>04</a:t>
            </a:r>
          </a:p>
          <a:p>
            <a:pPr>
              <a:spcAft>
                <a:spcPts val="0"/>
              </a:spcAft>
              <a:defRPr sz="1600">
                <a:solidFill>
                  <a:srgbClr val="334155"/>
                </a:solidFill>
                <a:latin typeface="Microsoft JhengHei"/>
              </a:defRPr>
            </a:pPr>
            <a:r>
              <a:t>提升企業形象：出貨品質穩定，增強客戶信任度與滿意度。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>
                <a:solidFill>
                  <a:srgbClr val="94A3B8"/>
                </a:solidFill>
                <a:latin typeface="Microsoft JhengHei"/>
              </a:defRPr>
            </a:pPr>
            <a:r>
              <a:t>倉儲系統方案比較簡報 | Page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