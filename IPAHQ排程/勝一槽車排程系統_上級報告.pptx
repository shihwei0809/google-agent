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54864" cy="6858000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ABBCC"/>
                </a:solidFill>
              </a:rPr>
              <a:t>勝一化工股份有限公司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槽車出貨排程管理系統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B4D8"/>
                </a:solidFill>
              </a:rPr>
              <a:t>即時派工・雙向確認・全平台管理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337560"/>
            <a:ext cx="1109167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AABBCC"/>
                </a:solidFill>
              </a:rPr>
              <a:t>系統說明報告　2026 年 9 月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0" y="4206240"/>
            <a:ext cx="1737360" cy="1188720"/>
          </a:xfrm>
          <a:prstGeom prst="rect">
            <a:avLst/>
          </a:prstGeom>
          <a:solidFill>
            <a:srgbClr val="1A2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45920" y="4206240"/>
            <a:ext cx="173736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42976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D166"/>
                </a:solidFill>
              </a:rPr>
              <a:t>35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8463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BBCC"/>
                </a:solidFill>
              </a:rPr>
              <a:t>系統帳號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4206240"/>
            <a:ext cx="1737360" cy="1188720"/>
          </a:xfrm>
          <a:prstGeom prst="rect">
            <a:avLst/>
          </a:prstGeom>
          <a:solidFill>
            <a:srgbClr val="1A2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0" y="4206240"/>
            <a:ext cx="173736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0" y="42976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D166"/>
                </a:solidFill>
              </a:rPr>
              <a:t>24/7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48463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BBCC"/>
                </a:solidFill>
              </a:rPr>
              <a:t>全天候雲端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4206240"/>
            <a:ext cx="1737360" cy="1188720"/>
          </a:xfrm>
          <a:prstGeom prst="rect">
            <a:avLst/>
          </a:prstGeom>
          <a:solidFill>
            <a:srgbClr val="1A2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4206240"/>
            <a:ext cx="173736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0" y="42976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D166"/>
                </a:solidFill>
              </a:rPr>
              <a:t>&lt; 1s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48463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BBCC"/>
                </a:solidFill>
              </a:rPr>
              <a:t>即時同步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4206240"/>
            <a:ext cx="1737360" cy="1188720"/>
          </a:xfrm>
          <a:prstGeom prst="rect">
            <a:avLst/>
          </a:prstGeom>
          <a:solidFill>
            <a:srgbClr val="1A2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4206240"/>
            <a:ext cx="173736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42976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D166"/>
                </a:solidFill>
              </a:rPr>
              <a:t>100%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8463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BBCC"/>
                </a:solidFill>
              </a:rPr>
              <a:t>已讀回執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ABBCC"/>
                </a:solidFill>
              </a:rPr>
              <a:t>機密文件 ─ 僅供內部簡報使用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01  系統背景與建置目的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1109167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166"/>
                </a:solidFill>
              </a:rPr>
              <a:t>▌ 導入前的痛點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📄  傳統紙本排程  →  人工傳遞效率低，資訊易落差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9384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📞  電話確認      →  來回溝通耗時，派工紀錄難追蹤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41448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🔴  無法確認是否已讀  →  技服人員收到排程無法即時確認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53512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📊  資料分散      →  Excel 各自為政，版本混亂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65576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🌐  人員在外      →  無法即時取得最新派工資訊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960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▌ 建置目標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417320"/>
            <a:ext cx="5029200" cy="822960"/>
          </a:xfrm>
          <a:prstGeom prst="rect">
            <a:avLst/>
          </a:prstGeom>
          <a:solidFill>
            <a:srgbClr val="1A2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0" y="1417320"/>
            <a:ext cx="54864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95160" y="146304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🎯 統一派工平台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182880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單一入口，電腦/手機皆可操作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0" y="2377440"/>
            <a:ext cx="5029200" cy="822960"/>
          </a:xfrm>
          <a:prstGeom prst="rect">
            <a:avLst/>
          </a:prstGeom>
          <a:solidFill>
            <a:srgbClr val="1A2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0" y="2377440"/>
            <a:ext cx="54864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95160" y="242316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📱 即時推播通知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278892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人員手機秒收到新排程任務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3337560"/>
            <a:ext cx="5029200" cy="822960"/>
          </a:xfrm>
          <a:prstGeom prst="rect">
            <a:avLst/>
          </a:prstGeom>
          <a:solidFill>
            <a:srgbClr val="1A2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0" y="3337560"/>
            <a:ext cx="54864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95160" y="338328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✅ 已讀回執機制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74904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確保每筆排程皆有人員確認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4297680"/>
            <a:ext cx="5029200" cy="822960"/>
          </a:xfrm>
          <a:prstGeom prst="rect">
            <a:avLst/>
          </a:prstGeom>
          <a:solidFill>
            <a:srgbClr val="1A2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0" y="4297680"/>
            <a:ext cx="54864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95160" y="434340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☁️ 雲端 24/7 上線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470916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不依賴公司網路，外部人員皆可連線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02  系統架構總覽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1109167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47120" cy="1051560"/>
          </a:xfrm>
          <a:prstGeom prst="rect">
            <a:avLst/>
          </a:prstGeom>
          <a:solidFill>
            <a:srgbClr val="1A2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73152" cy="10515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前端介面層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電腦管理端 (Chrome/Edge)  ╱  技服/司機手機 PWA App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40280"/>
            <a:ext cx="11247120" cy="1051560"/>
          </a:xfrm>
          <a:prstGeom prst="rect">
            <a:avLst/>
          </a:prstGeom>
          <a:solidFill>
            <a:srgbClr val="1A2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240280"/>
            <a:ext cx="73152" cy="10515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331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</a:rPr>
              <a:t>應用服務層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743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Node.js + Express  ─  REST API / SSE 即時事件流 / Web Push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74720"/>
            <a:ext cx="11247120" cy="1051560"/>
          </a:xfrm>
          <a:prstGeom prst="rect">
            <a:avLst/>
          </a:prstGeom>
          <a:solidFill>
            <a:srgbClr val="1A2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74720"/>
            <a:ext cx="73152" cy="105156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566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</a:rPr>
              <a:t>資料持久層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977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JSON 資料庫 (orders / users / drivers)  ╱  Excel 班表同步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709160"/>
            <a:ext cx="11247120" cy="1051560"/>
          </a:xfrm>
          <a:prstGeom prst="rect">
            <a:avLst/>
          </a:prstGeom>
          <a:solidFill>
            <a:srgbClr val="1A2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709160"/>
            <a:ext cx="73152" cy="105156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800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B59B6"/>
                </a:solidFill>
              </a:rPr>
              <a:t>部署基礎設施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2120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Render.com 雲端 Docker 容器  ╱  UptimeRobot 24/7 保活監控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198424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B4D8"/>
                </a:solidFill>
              </a:rPr>
              <a:t>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321868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B4D8"/>
                </a:solidFill>
              </a:rPr>
              <a:t>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44531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B4D8"/>
                </a:solidFill>
              </a:rPr>
              <a:t>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03  角色權限與帳號設計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1109167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2286000" cy="5212080"/>
          </a:xfrm>
          <a:prstGeom prst="rect">
            <a:avLst/>
          </a:prstGeom>
          <a:solidFill>
            <a:srgbClr val="1A2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2286000" cy="7315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0972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69164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74C3C"/>
                </a:solidFill>
              </a:rPr>
              <a:t>admin
系統管理員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42316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管理所有帳號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990088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上傳/下載任何資料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557015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完整日誌查閱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123944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系統設定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97480" y="1005840"/>
            <a:ext cx="2286000" cy="5212080"/>
          </a:xfrm>
          <a:prstGeom prst="rect">
            <a:avLst/>
          </a:prstGeom>
          <a:solidFill>
            <a:srgbClr val="1A2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97480" y="1005840"/>
            <a:ext cx="22860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7480" y="10972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169164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</a:rPr>
              <a:t>sales
業務人員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242316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上傳空白班表 Excel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2990088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查看訂單狀態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3557015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下載彙整 Excel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20640" y="1005840"/>
            <a:ext cx="2286000" cy="5212080"/>
          </a:xfrm>
          <a:prstGeom prst="rect">
            <a:avLst/>
          </a:prstGeom>
          <a:solidFill>
            <a:srgbClr val="1A2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20640" y="1005840"/>
            <a:ext cx="2286000" cy="73152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0" y="10972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169164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166"/>
                </a:solidFill>
              </a:rPr>
              <a:t>tech_mgr
技服主管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79" y="242316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匯入技服充填手排程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990088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指定技服人員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79" y="3557015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查閱已讀狀態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9" y="4123944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發送推播通知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43800" y="1005840"/>
            <a:ext cx="2286000" cy="5212080"/>
          </a:xfrm>
          <a:prstGeom prst="rect">
            <a:avLst/>
          </a:prstGeom>
          <a:solidFill>
            <a:srgbClr val="1A2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543800" y="1005840"/>
            <a:ext cx="2286000" cy="73152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43800" y="10972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🚛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43800" y="169164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B59B6"/>
                </a:solidFill>
              </a:rPr>
              <a:t>transporter
運輸公司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242316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上傳司機/車牌資料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35240" y="2990088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比對排程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35240" y="3557015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查看派車狀態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966960" y="1005840"/>
            <a:ext cx="2084831" cy="5212080"/>
          </a:xfrm>
          <a:prstGeom prst="rect">
            <a:avLst/>
          </a:prstGeom>
          <a:solidFill>
            <a:srgbClr val="1A2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966960" y="1005840"/>
            <a:ext cx="2084831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66960" y="1097280"/>
            <a:ext cx="208483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66960" y="1691640"/>
            <a:ext cx="2084831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CC71"/>
                </a:solidFill>
              </a:rPr>
              <a:t>tech_staff
技服人員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2423160"/>
            <a:ext cx="1947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查看自己的排程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2990088"/>
            <a:ext cx="1947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標記已讀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0" y="3557015"/>
            <a:ext cx="1947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查詢歷史排程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0" y="4123944"/>
            <a:ext cx="1947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接收推播通知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ABBCC"/>
                </a:solidFill>
              </a:rPr>
              <a:t>共 35 個正式帳號　│　所有帳號密碼預設為 123，可由管理員修改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04  完整操作流程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1109167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1005840"/>
            <a:ext cx="1609344" cy="5029200"/>
          </a:xfrm>
          <a:prstGeom prst="rect">
            <a:avLst/>
          </a:prstGeom>
          <a:solidFill>
            <a:srgbClr val="1A2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05840"/>
            <a:ext cx="1609344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58952" y="1097280"/>
            <a:ext cx="493776" cy="493776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D1B2A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719072"/>
            <a:ext cx="14996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</a:rPr>
              <a:t>業務上傳空白班表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2331720"/>
            <a:ext cx="147218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業務登入 → 匯入 Excel 班表
系統解析訂單資料並儲存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92224" y="25603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ABBCC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83664" y="1005840"/>
            <a:ext cx="1609344" cy="5029200"/>
          </a:xfrm>
          <a:prstGeom prst="rect">
            <a:avLst/>
          </a:prstGeom>
          <a:solidFill>
            <a:srgbClr val="1A2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83664" y="1005840"/>
            <a:ext cx="1609344" cy="73152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441448" y="1097280"/>
            <a:ext cx="493776" cy="493776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D1B2A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56816" y="1719072"/>
            <a:ext cx="14996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166"/>
                </a:solidFill>
              </a:rPr>
              <a:t>技服主管指派充填手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75104" y="2331720"/>
            <a:ext cx="147218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主管登入 → 比對技服 Excel
確認比對結果後確認匯入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5603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ABBCC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66160" y="1005840"/>
            <a:ext cx="1609344" cy="5029200"/>
          </a:xfrm>
          <a:prstGeom prst="rect">
            <a:avLst/>
          </a:prstGeom>
          <a:solidFill>
            <a:srgbClr val="1A2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66160" y="1005840"/>
            <a:ext cx="1609344" cy="73152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123944" y="1097280"/>
            <a:ext cx="493776" cy="493776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D1B2A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9312" y="1719072"/>
            <a:ext cx="14996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166"/>
                </a:solidFill>
              </a:rPr>
              <a:t>主管確認推播通知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31720"/>
            <a:ext cx="147218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系統顯示「哪些人有新任務」
主管按確定才送出推播通知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6" y="25603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ABBCC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48656" y="1005840"/>
            <a:ext cx="1609344" cy="5029200"/>
          </a:xfrm>
          <a:prstGeom prst="rect">
            <a:avLst/>
          </a:prstGeom>
          <a:solidFill>
            <a:srgbClr val="1A2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248656" y="1005840"/>
            <a:ext cx="1609344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06440" y="1097280"/>
            <a:ext cx="493776" cy="493776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D1B2A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21808" y="1719072"/>
            <a:ext cx="14996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CC71"/>
                </a:solidFill>
              </a:rPr>
              <a:t>技服人員收到通知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0096" y="2331720"/>
            <a:ext cx="147218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手機彈出推播 → 點開系統
查看自己當天/明天派工任務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9712" y="25603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ABBCC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31152" y="1005840"/>
            <a:ext cx="1609344" cy="5029200"/>
          </a:xfrm>
          <a:prstGeom prst="rect">
            <a:avLst/>
          </a:prstGeom>
          <a:solidFill>
            <a:srgbClr val="1A2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31152" y="1005840"/>
            <a:ext cx="1609344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488936" y="1097280"/>
            <a:ext cx="493776" cy="493776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D1B2A"/>
                </a:solidFill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04304" y="1719072"/>
            <a:ext cx="14996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CC71"/>
                </a:solidFill>
              </a:rPr>
              <a:t>人員確認已讀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22592" y="2331720"/>
            <a:ext cx="147218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點擊「已讀」回傳確認
電腦端即時同步顯示已讀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22208" y="25603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ABBCC"/>
                </a:solidFill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13648" y="1005840"/>
            <a:ext cx="1609344" cy="5029200"/>
          </a:xfrm>
          <a:prstGeom prst="rect">
            <a:avLst/>
          </a:prstGeom>
          <a:solidFill>
            <a:srgbClr val="1A2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613648" y="1005840"/>
            <a:ext cx="1609344" cy="73152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71432" y="1097280"/>
            <a:ext cx="493776" cy="493776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D1B2A"/>
                </a:solidFill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1719072"/>
            <a:ext cx="14996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B59B6"/>
                </a:solidFill>
              </a:rPr>
              <a:t>運輸公司補充車輛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05088" y="2331720"/>
            <a:ext cx="147218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司機/車牌資料比對匯入
完成完整出貨資訊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04704" y="25603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ABBCC"/>
                </a:solidFill>
              </a:rPr>
              <a:t>→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296144" y="1005840"/>
            <a:ext cx="1609344" cy="5029200"/>
          </a:xfrm>
          <a:prstGeom prst="rect">
            <a:avLst/>
          </a:prstGeom>
          <a:solidFill>
            <a:srgbClr val="1A2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296144" y="1005840"/>
            <a:ext cx="1609344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853928" y="1097280"/>
            <a:ext cx="493776" cy="493776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D1B2A"/>
                </a:solidFill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69296" y="1719072"/>
            <a:ext cx="14996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</a:rPr>
              <a:t>匯出彙整報表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87584" y="2331720"/>
            <a:ext cx="147218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下載包含所有資訊的 Excel
作為出貨/存檔依據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05  即時同步與已讀回執機制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1109167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166"/>
                </a:solidFill>
              </a:rPr>
              <a:t>▌ Server-Sent Events (SSE) 即時推送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7132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 技服人員按下「已讀」後，Server 即時廣播事件給所有在線端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7132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 電腦管理端的表格徽章在 &lt; 1 秒內從 🔴 未讀 切換為 🟢 已讀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23160"/>
            <a:ext cx="7132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 已讀時間與確認人員同步顯示，無需手動刷新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7132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 同時提供 3 秒輪詢備援，確保 SSE 中斷時也能自動恢復同步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▌ 重新匯入的智慧已讀保留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57600"/>
            <a:ext cx="7132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 同一筆訂單重新匯入時，若負責人員沒有更換 → 已讀狀態保留不動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60520"/>
            <a:ext cx="7132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 若負責人員更換 → 自動重置為未讀，確保新負責人收到通知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663440"/>
            <a:ext cx="7132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 已讀人員不會重複收到相同任務的推播通知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960120"/>
            <a:ext cx="3931920" cy="5303520"/>
          </a:xfrm>
          <a:prstGeom prst="rect">
            <a:avLst/>
          </a:prstGeom>
          <a:solidFill>
            <a:srgbClr val="1A2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960120"/>
            <a:ext cx="393192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10515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📱 技服人員視角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554480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D166"/>
                </a:solidFill>
              </a:rPr>
              <a:t>🔔 推播通知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993391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「新派工任務：林介文」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432304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871215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</a:rPr>
              <a:t>📋 點開排程卡片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310128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出貨日期 ｜ 到貨時間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3749039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客戶地點 ｜ 產品品項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187952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626864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</a:rPr>
              <a:t>✅ 按下「確認已讀」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5065776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  → 電腦端即時同步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5504688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</a:rPr>
              <a:t>  🟢 已讀 by 林聖龍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06  雲端部署架構與 24/7 可用性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1109167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2743200" cy="5303520"/>
          </a:xfrm>
          <a:prstGeom prst="rect">
            <a:avLst/>
          </a:prstGeom>
          <a:solidFill>
            <a:srgbClr val="1A2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27432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</a:rPr>
              <a:t>☁️ Render.com
雲端主機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8288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免費方案部署 Docker 容器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542032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自動偵測 GitHub 推送並重新部署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3255264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正式網址：google-agent-4gzi.onrender.com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3968496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全球 CDN / Cloudflare 加速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73552" y="1005840"/>
            <a:ext cx="2743200" cy="5303520"/>
          </a:xfrm>
          <a:prstGeom prst="rect">
            <a:avLst/>
          </a:prstGeom>
          <a:solidFill>
            <a:srgbClr val="1A2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73552" y="1005840"/>
            <a:ext cx="2743200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73552" y="109728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CC71"/>
                </a:solidFill>
              </a:rPr>
              <a:t>👁️ UptimeRobot
外部監控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18288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每 5 分鐘自動 Ping 伺服器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542032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防止 Render 閒置 15 分鐘自動休眠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255264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偵測到掛掉立即發 Email 通知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3968496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近 30 天可用率 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81344" y="1005840"/>
            <a:ext cx="2743200" cy="5303520"/>
          </a:xfrm>
          <a:prstGeom prst="rect">
            <a:avLst/>
          </a:prstGeom>
          <a:solidFill>
            <a:srgbClr val="1A2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1344" y="1005840"/>
            <a:ext cx="2743200" cy="73152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81344" y="109728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166"/>
                </a:solidFill>
              </a:rPr>
              <a:t>🔁 程式內建
自打心跳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2" y="18288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server.js 每 10 分鐘對外發送請求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1072" y="2542032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雙重保險確保伺服器永不休眠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1072" y="3255264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啟動時自動顯示本機 IP 與外網網址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1072" y="3968496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支援 Port 衝突自動切換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89136" y="1005840"/>
            <a:ext cx="2743200" cy="5303520"/>
          </a:xfrm>
          <a:prstGeom prst="rect">
            <a:avLst/>
          </a:prstGeom>
          <a:solidFill>
            <a:srgbClr val="1A2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89136" y="1005840"/>
            <a:ext cx="2743200" cy="73152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89136" y="109728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9B59B6"/>
                </a:solidFill>
              </a:rPr>
              <a:t>🏠 本機備援
固定 Tunnel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98864" y="18288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本機 Node.js 同步運行備援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98864" y="2542032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固定 Tunnel 網址對外服務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98864" y="3255264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斷線自動重連，8 秒後重試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98864" y="3968496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區網 IP 讓辦公室人員直連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07  導入效益與未來規劃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1109167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2560320" cy="2926080"/>
          </a:xfrm>
          <a:prstGeom prst="rect">
            <a:avLst/>
          </a:prstGeom>
          <a:solidFill>
            <a:srgbClr val="1A2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005840"/>
            <a:ext cx="256032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⏱️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</a:rPr>
              <a:t>派工效率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原先人工電話通知
→ 系統自動推播
節省 80% 溝通時間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005840"/>
            <a:ext cx="2560320" cy="2926080"/>
          </a:xfrm>
          <a:prstGeom prst="rect">
            <a:avLst/>
          </a:prstGeom>
          <a:solidFill>
            <a:srgbClr val="1A2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005840"/>
            <a:ext cx="256032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11430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17373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</a:rPr>
              <a:t>確認透明度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24028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無法追蹤人員是否收到
→ 已讀回執即時顯示
主管隨時掌握狀況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79" y="1005840"/>
            <a:ext cx="2560320" cy="2926080"/>
          </a:xfrm>
          <a:prstGeom prst="rect">
            <a:avLst/>
          </a:prstGeom>
          <a:solidFill>
            <a:srgbClr val="1A2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79" y="1005840"/>
            <a:ext cx="256032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79" y="11430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79" y="17373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</a:rPr>
              <a:t>行動化作業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19" y="224028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人員須在辦公室查看
→ 手機 PWA App
隨時隨地查閱排程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15399" y="1005840"/>
            <a:ext cx="2560320" cy="2926080"/>
          </a:xfrm>
          <a:prstGeom prst="rect">
            <a:avLst/>
          </a:prstGeom>
          <a:solidFill>
            <a:srgbClr val="1A2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15399" y="1005840"/>
            <a:ext cx="256032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5399" y="11430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☁️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399" y="17373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</a:rPr>
              <a:t>資訊安全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39" y="224028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資料散落各 Excel
→ 統一雲端管理
帳號權限分級控管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114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166"/>
                </a:solidFill>
              </a:rPr>
              <a:t>▌ 未來規劃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617720"/>
            <a:ext cx="10972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📊 報表分析模組   ─ 自動統計各技服人員出勤率與確認速率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074920"/>
            <a:ext cx="10972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🗓️ 行事曆視圖      ─ 月曆化呈現排程，一目瞭然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532120"/>
            <a:ext cx="10972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📷 QR Code 掃碼  ─ 現場掃描快速確認到貨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989320"/>
            <a:ext cx="10972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🔔 逾時未讀自動提醒  ─ 排程前 N 小時若未確認自動催讀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54864" cy="6858000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感謝聆聽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B4D8"/>
                </a:solidFill>
              </a:rPr>
              <a:t>勝一化工 槽車出貨排程管理系統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429000"/>
            <a:ext cx="1109167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6576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</a:rPr>
              <a:t>🌐 正式網址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36576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https://google-agent-4gzi.onrender.com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6576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</a:rPr>
              <a:t>👤 系統帳號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36576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35 位人員帳號，預設密碼 123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3891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</a:rPr>
              <a:t>📱 PWA 安裝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43891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用手機 Chrome 開啟網址 → 加到主畫面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3891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</a:rPr>
              <a:t>🔧 技術支援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43891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shihwei（系統管理員）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309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AABBCC"/>
                </a:solidFill>
              </a:rPr>
              <a:t>本系統由公司內部自主開發，資料存於雲端伺服器，帳號資訊請妥善保管。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