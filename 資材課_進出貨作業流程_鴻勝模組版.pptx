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1ECE5-6601-4984-AF01-5B219B6E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B06DBE-C3E4-444F-B272-3B7429F95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27E460-63E1-4779-8567-3DFE8B8F7C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0F0E2BD-DA07-42B2-882F-907735DC1DD5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7A6F43-B8FD-415B-B6E0-D85AE4B442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BA0AF7-CAEC-492D-922C-CE7C85E896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56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98E6B9-3009-4E32-B5E2-5703B5F8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DBC2C8-2A23-4FF6-9F7D-73C14B02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6F0645-CDF5-4704-81B4-2D23ADEE01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95A2B33-1190-459C-B609-723B91460C0B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4EEAD1-2401-4F13-BCD3-5E7E4896E8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B8D10A-F593-4588-9BC2-EABD51B204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088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8C572C-7F72-42DD-A203-DBE842CF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1A2C62-5032-4A2F-A0C7-29A116313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BAED3-09B3-438A-B285-086C7E4EE3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9A6A0F5-FC40-4D6B-BC54-7E44B6EFADBF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638897-5A87-47A9-9499-F54B2EF790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54E8F7-97DD-4C17-A120-01AE84B5F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22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DB2B66-1B12-4F4F-83ED-B9222A99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3D989A-1F0B-4764-9027-F6170A5D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47A98E-C8F2-4B4C-B55C-95A666499A3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B467AB-97B7-44E5-A712-DBA3FD14F5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C1BD43-3209-4293-A47D-772B0A5539F8}" type="datetime1">
              <a:t>2026/9/3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DCF84C-6050-48EF-8A98-C57ECD740B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A6A5D8-0040-417D-8CA1-A4516CFFF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553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1E333-8DA0-4083-87DE-F875FFB8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3EBB21-D3A4-44BE-843F-3CFB3163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E00AD3-E7D7-4143-93BC-72E9BA27F13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5E61F7-CBB8-4F4D-A5F8-B036F5011F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A3043E-9D44-44D4-B44A-704F950B544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100148-2786-4808-9CEC-4748C62826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1E779EE-1948-4B83-A22E-8156CA0EAE86}" type="datetime1">
              <a:t>2026/9/3</a:t>
            </a:fld>
            <a:endParaRPr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C63105E-92C0-40F5-A704-928817241E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E75E6D-D0ED-40E8-BB32-4907CA874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42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D06EEC-8854-4C35-94F4-2D9A7978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85DF8EE-EC83-4B65-BD71-56808D802A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25DD186-5C66-416D-9624-8DD335D29764}" type="datetime1">
              <a:t>2026/9/3</a:t>
            </a:fld>
            <a:endParaRPr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0586C20-EE31-4D34-BA30-2FF3CD32BB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52DEEE-A91F-4FD3-BB57-6F1BD08455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719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6769EEB-D875-46CF-9571-711D7D5AD4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255725-B9CD-4E00-AED3-51A811D8B477}" type="datetime1">
              <a:t>2026/9/3</a:t>
            </a:fld>
            <a:endParaRPr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6C5A37-C73D-4930-AAC2-51DA84C15A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1012B5-F39F-46BE-BE5D-479325038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625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A60B71-A2EF-49D9-9E85-31947589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6F4B95-59B2-4A9F-A03F-01AC45D40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C53DE5-3D7A-4980-8D76-E0E69B1659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3105AB-8F86-4F77-879D-5A1C9383C4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8ADEE08-ED98-432A-AA2B-CD6FA8A97BC3}" type="datetime1">
              <a:t>2026/9/3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33DF4D-1BE1-4504-8A19-BC68EB6DEA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46D6EF-75F1-40CA-87FA-925DE847E7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528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CC2148-D01D-46DD-917F-C876E46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1475418-38D3-411E-8F76-64734629F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30D97A-B27F-460A-A706-EF94EA0D30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DFE330-4ED2-48A8-AE82-64BD20B73F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BC48B4-B8DD-4DBD-87F1-35894283269C}" type="datetime1">
              <a:t>2026/9/3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2B5E71-6CEA-41AB-9667-2623CFD7CE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C9FFFB-5891-41DA-BDC7-9003088C53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091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90B203-AC42-4E19-91EA-5C79E71A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E6BC0B-3B23-4432-8DAC-40B4DFE9C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DE144C-012E-4B0E-89EC-EC3D2920F0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9AD919F-2653-4D18-A862-27196B70C4DB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09415A-C925-4B7B-9F20-427BE21CCF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AAC4E7-4C47-4E37-A5C0-002BF406E7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800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C754C1-842A-45C9-84D5-D4490D04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05FCD9-1C3E-4E03-9A62-92560D1F7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rPr lang="zh-TW" altLang="en-US" smtClean="0"/>
              <a:t>編輯母片文字樣式</a:t>
            </a:r>
          </a:p>
          <a:p>
            <a:pPr lvl="1">
              <a:buNone/>
            </a:pPr>
            <a:r>
              <a:rPr lang="zh-TW" altLang="en-US" smtClean="0"/>
              <a:t>第二層</a:t>
            </a:r>
          </a:p>
          <a:p>
            <a:pPr lvl="2">
              <a:buNone/>
            </a:pPr>
            <a:r>
              <a:rPr lang="zh-TW" altLang="en-US" smtClean="0"/>
              <a:t>第三層</a:t>
            </a:r>
          </a:p>
          <a:p>
            <a:pPr lvl="3">
              <a:buNone/>
            </a:pPr>
            <a:r>
              <a:rPr lang="zh-TW" altLang="en-US" smtClean="0"/>
              <a:t>第四層</a:t>
            </a:r>
          </a:p>
          <a:p>
            <a:pPr lvl="4">
              <a:buNone/>
            </a:pPr>
            <a:r>
              <a:rPr lang="zh-TW" altLang="en-US" smtClean="0"/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A1B8-96D5-47AF-8E7B-D75AC22FD6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BD5611-DC3E-4C86-A618-14433A96C23C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1B07FC-0D30-48BD-9814-F0187DB910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88A59C-FE42-46F7-99A0-5FFAC8E06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811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28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B4E5B6D-71F1-49B9-AF1C-3C383841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  <a:endParaRPr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483800B-6CCB-445E-AC05-A1949953F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01A7D9-8CE6-42AD-963D-E2E56BABEE6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00233-2C7F-406B-ACB7-9A8129A067CB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ADAD58-3773-4FD0-B392-70747FA6D3F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F51581-A9CA-4D66-BF20-6B7AF5A2C45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CDDC8-8DD5-4BFD-B00C-8EDC23D94F41}" type="slidenum">
              <a:t>‹#›</a:t>
            </a:fld>
            <a:endParaRPr/>
          </a:p>
        </p:txBody>
      </p:sp>
      <p:pic>
        <p:nvPicPr>
          <p:cNvPr id="19" name="圖片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36396" y="123030"/>
            <a:ext cx="1007704" cy="862012"/>
          </a:xfrm>
          <a:prstGeom prst="rect">
            <a:avLst/>
          </a:prstGeom>
        </p:spPr>
      </p:pic>
      <p:pic>
        <p:nvPicPr>
          <p:cNvPr id="20" name="Picture 14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9944100" y="404813"/>
            <a:ext cx="1738313" cy="303212"/>
          </a:xfrm>
          <a:prstGeom prst="rect">
            <a:avLst/>
          </a:prstGeom>
          <a:ln>
            <a:noFill/>
          </a:ln>
        </p:spPr>
      </p:pic>
      <p:sp>
        <p:nvSpPr>
          <p:cNvPr id="11" name="Line 5">
            <a:extLst>
              <a:ext uri="{FF2B5EF4-FFF2-40B4-BE49-F238E27FC236}">
                <a16:creationId xmlns:a16="http://schemas.microsoft.com/office/drawing/2014/main" id="{53F877BF-D155-41A3-B7C0-C84B049320AC}"/>
              </a:ext>
            </a:extLst>
          </p:cNvPr>
          <p:cNvSpPr>
            <a:spLocks noGrp="1"/>
          </p:cNvSpPr>
          <p:nvPr/>
        </p:nvSpPr>
        <p:spPr>
          <a:xfrm>
            <a:off x="559293" y="958788"/>
            <a:ext cx="11304345" cy="3477"/>
          </a:xfrm>
          <a:prstGeom prst="line">
            <a:avLst/>
          </a:prstGeom>
          <a:noFill/>
          <a:ln w="3175">
            <a:solidFill>
              <a:srgbClr val="003300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50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ea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 ea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 ea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 eaLnBrk="1" hangingPunct="1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0BCC45E-A5A0-41B3-A1D0-1646BA45524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14300" cy="5334000"/>
          </a:xfrm>
          <a:prstGeom prst="rect">
            <a:avLst/>
          </a:prstGeom>
          <a:solidFill>
            <a:srgbClr val="E58B3A"/>
          </a:solidFill>
          <a:ln w="9525">
            <a:solidFill>
              <a:srgbClr val="E58B3A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AD21A8-D9F9-4F93-94B5-85205402BC26}"/>
              </a:ext>
            </a:extLst>
          </p:cNvPr>
          <p:cNvSpPr>
            <a:spLocks noGrp="1"/>
          </p:cNvSpPr>
          <p:nvPr/>
        </p:nvSpPr>
        <p:spPr>
          <a:xfrm>
            <a:off x="1181100" y="8953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B9D7DC"/>
                </a:solidFill>
              </a:defRPr>
            </a:pPr>
            <a:r>
              <a:rPr sz="1350" b="1">
                <a:solidFill>
                  <a:srgbClr val="B9D7DC"/>
                </a:solidFill>
              </a:rPr>
              <a:t>資材部｜資材課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DB88B6-185F-44BE-9241-1EE5BC9DCF2E}"/>
              </a:ext>
            </a:extLst>
          </p:cNvPr>
          <p:cNvSpPr>
            <a:spLocks noGrp="1"/>
          </p:cNvSpPr>
          <p:nvPr/>
        </p:nvSpPr>
        <p:spPr>
          <a:xfrm>
            <a:off x="1181100" y="1619250"/>
            <a:ext cx="6858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進出貨與倉儲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作業流程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0997CB-B728-4646-B7B9-C12067D42AA1}"/>
              </a:ext>
            </a:extLst>
          </p:cNvPr>
          <p:cNvSpPr>
            <a:spLocks noGrp="1"/>
          </p:cNvSpPr>
          <p:nvPr/>
        </p:nvSpPr>
        <p:spPr>
          <a:xfrm>
            <a:off x="1219200" y="34290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D9E7EA"/>
                </a:solidFill>
              </a:defRPr>
            </a:pPr>
            <a:r>
              <a:rPr sz="1800" b="0">
                <a:solidFill>
                  <a:srgbClr val="D9E7EA"/>
                </a:solidFill>
              </a:rPr>
              <a:t>作業管制、品質防呆與資訊化管理架構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B3D88FB-2FF1-4AFD-BAE5-786730D6ADFB}"/>
              </a:ext>
            </a:extLst>
          </p:cNvPr>
          <p:cNvSpPr>
            <a:spLocks noGrp="1"/>
          </p:cNvSpPr>
          <p:nvPr/>
        </p:nvSpPr>
        <p:spPr>
          <a:xfrm>
            <a:off x="8191500" y="1638300"/>
            <a:ext cx="2762250" cy="2762250"/>
          </a:xfrm>
          <a:prstGeom prst="roundRect">
            <a:avLst>
              <a:gd name="adj" fmla="val 2759"/>
            </a:avLst>
          </a:prstGeom>
          <a:solidFill>
            <a:srgbClr val="1A455B"/>
          </a:solidFill>
          <a:ln w="9525">
            <a:solidFill>
              <a:srgbClr val="2D647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E76FF4-135C-43B2-AF05-4FF036B361E5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9AD5CB"/>
                </a:solidFill>
              </a:defRPr>
            </a:pPr>
            <a:r>
              <a:rPr sz="1350" b="1">
                <a:solidFill>
                  <a:srgbClr val="9AD5CB"/>
                </a:solidFill>
              </a:rPr>
              <a:t>INBOUND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3CA887-42D3-4F47-AF1E-6AEB5E4371C6}"/>
              </a:ext>
            </a:extLst>
          </p:cNvPr>
          <p:cNvSpPr>
            <a:spLocks noGrp="1"/>
          </p:cNvSpPr>
          <p:nvPr/>
        </p:nvSpPr>
        <p:spPr>
          <a:xfrm>
            <a:off x="9191625" y="2514600"/>
            <a:ext cx="76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150" b="1">
                <a:solidFill>
                  <a:srgbClr val="E58B3A"/>
                </a:solidFill>
              </a:defRPr>
            </a:pPr>
            <a:r>
              <a:rPr sz="31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EF2A11-7939-42C4-81B0-DAF1F24B74E0}"/>
              </a:ext>
            </a:extLst>
          </p:cNvPr>
          <p:cNvSpPr>
            <a:spLocks noGrp="1"/>
          </p:cNvSpPr>
          <p:nvPr/>
        </p:nvSpPr>
        <p:spPr>
          <a:xfrm>
            <a:off x="8572500" y="3143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9AD5CB"/>
                </a:solidFill>
              </a:defRPr>
            </a:pPr>
            <a:r>
              <a:rPr sz="1350" b="1">
                <a:solidFill>
                  <a:srgbClr val="9AD5CB"/>
                </a:solidFill>
              </a:rPr>
              <a:t>STORAGE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BE8566-DD97-4B6E-8B81-5B9744916D4D}"/>
              </a:ext>
            </a:extLst>
          </p:cNvPr>
          <p:cNvSpPr>
            <a:spLocks noGrp="1"/>
          </p:cNvSpPr>
          <p:nvPr/>
        </p:nvSpPr>
        <p:spPr>
          <a:xfrm>
            <a:off x="9191625" y="3609975"/>
            <a:ext cx="76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150" b="1">
                <a:solidFill>
                  <a:srgbClr val="E58B3A"/>
                </a:solidFill>
              </a:defRPr>
            </a:pPr>
            <a:r>
              <a:rPr sz="31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02BF1D-0D48-4333-93AA-C04E9851EE61}"/>
              </a:ext>
            </a:extLst>
          </p:cNvPr>
          <p:cNvSpPr>
            <a:spLocks noGrp="1"/>
          </p:cNvSpPr>
          <p:nvPr/>
        </p:nvSpPr>
        <p:spPr>
          <a:xfrm>
            <a:off x="8572500" y="42386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9AD5CB"/>
                </a:solidFill>
              </a:defRPr>
            </a:pPr>
            <a:r>
              <a:rPr sz="1350" b="1">
                <a:solidFill>
                  <a:srgbClr val="9AD5CB"/>
                </a:solidFill>
              </a:rPr>
              <a:t>OUTBOUND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62758C-A803-4916-851F-195E3F744A62}"/>
              </a:ext>
            </a:extLst>
          </p:cNvPr>
          <p:cNvSpPr>
            <a:spLocks noGrp="1"/>
          </p:cNvSpPr>
          <p:nvPr/>
        </p:nvSpPr>
        <p:spPr>
          <a:xfrm>
            <a:off x="1219200" y="6038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B9D7DC"/>
                </a:solidFill>
              </a:defRPr>
            </a:pPr>
            <a:r>
              <a:rPr sz="1050" b="0">
                <a:solidFill>
                  <a:srgbClr val="B9D7DC"/>
                </a:solidFill>
              </a:rPr>
              <a:t>2026/09/10　｜　報告人：陳世偉</a:t>
            </a:r>
          </a:p>
        </p:txBody>
      </p:sp>
    </p:spTree>
    <p:extLst>
      <p:ext uri="{BB962C8B-B14F-4D97-AF65-F5344CB8AC3E}">
        <p14:creationId xmlns:p14="http://schemas.microsoft.com/office/powerpoint/2010/main" val="168525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5BC2444-30E3-428D-B8AB-4560F2B76AB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01｜職責範圍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2367CB-FA6F-4547-8FBE-B95FD7D9D86D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資材課的任務，是讓物料安全、正確、可追溯地流動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C57908-D6B7-4952-80CF-BDEB6D0C049A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D55B0A-0EEA-4162-843C-CFFDF2547526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3BB5F8-A1C7-47B4-9DAB-B9D562313C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747E"/>
                </a:solidFill>
              </a:defRPr>
            </a:pPr>
            <a:r>
              <a:rPr sz="1650" b="0">
                <a:solidFill>
                  <a:srgbClr val="5F747E"/>
                </a:solidFill>
              </a:rPr>
              <a:t>資材部共 32 人，資材課串接進料、倉儲、灌裝與出貨，並與品管及製程協作。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81569E70-BDD0-4F7D-BB0A-65512B259D36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429000" cy="2667000"/>
          </a:xfrm>
          <a:prstGeom prst="roundRect">
            <a:avLst>
              <a:gd name="adj" fmla="val 2857"/>
            </a:avLst>
          </a:prstGeom>
          <a:solidFill>
            <a:srgbClr val="123047"/>
          </a:solidFill>
          <a:ln w="9525">
            <a:solidFill>
              <a:srgbClr val="12304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F7B876-E0A3-4AAC-A8FB-5A7C2365B6BB}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資材部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0279F6-8286-4E8C-B0E5-475420B6F198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B9D7DC"/>
                </a:solidFill>
              </a:defRPr>
            </a:pPr>
            <a:r>
              <a:rPr sz="1800" b="0">
                <a:solidFill>
                  <a:srgbClr val="B9D7DC"/>
                </a:solidFill>
              </a:rPr>
              <a:t>共 32 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91762E-A871-4273-992B-09598B495BB9}"/>
              </a:ext>
            </a:extLst>
          </p:cNvPr>
          <p:cNvSpPr>
            <a:spLocks noGrp="1"/>
          </p:cNvSpPr>
          <p:nvPr/>
        </p:nvSpPr>
        <p:spPr>
          <a:xfrm>
            <a:off x="990600" y="38576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林昭安｜副理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0677B1-93E7-45EC-9BB4-9E230D3CF1A5}"/>
              </a:ext>
            </a:extLst>
          </p:cNvPr>
          <p:cNvSpPr>
            <a:spLocks noGrp="1"/>
          </p:cNvSpPr>
          <p:nvPr/>
        </p:nvSpPr>
        <p:spPr>
          <a:xfrm>
            <a:off x="990600" y="42291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9E7EA"/>
                </a:solidFill>
              </a:defRPr>
            </a:pPr>
            <a:r>
              <a:rPr sz="1350" b="0">
                <a:solidFill>
                  <a:srgbClr val="D9E7EA"/>
                </a:solidFill>
              </a:rPr>
              <a:t>陳陸陣｜高級工程師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9E61D445-A683-44DF-ABB7-4EA288EF856E}"/>
              </a:ext>
            </a:extLst>
          </p:cNvPr>
          <p:cNvSpPr>
            <a:spLocks noGrp="1"/>
          </p:cNvSpPr>
          <p:nvPr/>
        </p:nvSpPr>
        <p:spPr>
          <a:xfrm>
            <a:off x="4667250" y="2286000"/>
            <a:ext cx="683895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C584AA-1172-42C3-AFB9-187B292073A4}"/>
              </a:ext>
            </a:extLst>
          </p:cNvPr>
          <p:cNvSpPr>
            <a:spLocks noGrp="1"/>
          </p:cNvSpPr>
          <p:nvPr/>
        </p:nvSpPr>
        <p:spPr>
          <a:xfrm>
            <a:off x="5048250" y="26289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資材課與現場單位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DDE7FF-0179-453E-AA58-FE5F4B2AB66F}"/>
              </a:ext>
            </a:extLst>
          </p:cNvPr>
          <p:cNvSpPr>
            <a:spLocks noGrp="1"/>
          </p:cNvSpPr>
          <p:nvPr/>
        </p:nvSpPr>
        <p:spPr>
          <a:xfrm>
            <a:off x="5048250" y="3238500"/>
            <a:ext cx="19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B9C95"/>
                </a:solidFill>
              </a:defRPr>
            </a:pPr>
            <a:r>
              <a:rPr sz="150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823D5C-DA63-477D-8EFD-EB932361DDF2}"/>
              </a:ext>
            </a:extLst>
          </p:cNvPr>
          <p:cNvSpPr>
            <a:spLocks noGrp="1"/>
          </p:cNvSpPr>
          <p:nvPr/>
        </p:nvSpPr>
        <p:spPr>
          <a:xfrm>
            <a:off x="5276850" y="3238500"/>
            <a:ext cx="5676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陳世偉｜副課長，統籌課務與流程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7059C0-EC4E-4B5A-95DF-E8EE2A8F5CBE}"/>
              </a:ext>
            </a:extLst>
          </p:cNvPr>
          <p:cNvSpPr>
            <a:spLocks noGrp="1"/>
          </p:cNvSpPr>
          <p:nvPr/>
        </p:nvSpPr>
        <p:spPr>
          <a:xfrm>
            <a:off x="5048250" y="3676650"/>
            <a:ext cx="19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B9C95"/>
                </a:solidFill>
              </a:defRPr>
            </a:pPr>
            <a:r>
              <a:rPr sz="150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CE11FA-D11B-4E41-8A5A-6B356B9495AC}"/>
              </a:ext>
            </a:extLst>
          </p:cNvPr>
          <p:cNvSpPr>
            <a:spLocks noGrp="1"/>
          </p:cNvSpPr>
          <p:nvPr/>
        </p:nvSpPr>
        <p:spPr>
          <a:xfrm>
            <a:off x="5276850" y="3676650"/>
            <a:ext cx="5676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專員／管理師／助理管理師：日常作業與資料管理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03DA89-7C31-4F91-B262-396559B01E3F}"/>
              </a:ext>
            </a:extLst>
          </p:cNvPr>
          <p:cNvSpPr>
            <a:spLocks noGrp="1"/>
          </p:cNvSpPr>
          <p:nvPr/>
        </p:nvSpPr>
        <p:spPr>
          <a:xfrm>
            <a:off x="5048250" y="4114800"/>
            <a:ext cx="19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B9C95"/>
                </a:solidFill>
              </a:defRPr>
            </a:pPr>
            <a:r>
              <a:rPr sz="150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F622C9-81B4-464E-87C3-8777FE76C966}"/>
              </a:ext>
            </a:extLst>
          </p:cNvPr>
          <p:cNvSpPr>
            <a:spLocks noGrp="1"/>
          </p:cNvSpPr>
          <p:nvPr/>
        </p:nvSpPr>
        <p:spPr>
          <a:xfrm>
            <a:off x="5276850" y="4114800"/>
            <a:ext cx="5676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彰濱一廠、二廠：各組長帶領現場執行人員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8E3489-EE78-4659-94DB-E649FA0C5CB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61233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DC02098D-7F95-4EB4-B861-9BBF2677FF1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02｜全流程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1A156-55D8-45EF-9C9F-6D7B5540C608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三個作業階段，形成一條可追溯的物料鏈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366682-EB15-4F9D-85E5-61648719036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6F76EE-1C3A-40BA-AFAD-BEF50D24A6A8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7F55F5-D642-4328-A1F9-04784E0C7996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747E"/>
                </a:solidFill>
              </a:defRPr>
            </a:pPr>
            <a:r>
              <a:rPr sz="1650" b="0">
                <a:solidFill>
                  <a:srgbClr val="5F747E"/>
                </a:solidFill>
              </a:rPr>
              <a:t>每一階段都有明確的安全、品質與庫存控制點，最後回寫 ERP／MES。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FCA821C-6253-412B-8149-B5BA140F0414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91242AD-B368-4AD3-8E88-BD28451AC626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143250" cy="704850"/>
          </a:xfrm>
          <a:prstGeom prst="roundRect">
            <a:avLst>
              <a:gd name="adj" fmla="val 10811"/>
            </a:avLst>
          </a:prstGeom>
          <a:solidFill>
            <a:srgbClr val="1F6F8B"/>
          </a:solidFill>
          <a:ln w="9525">
            <a:solidFill>
              <a:srgbClr val="1F6F8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7E2CA0-399C-4CFC-A7FF-28F769BA386A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 進貨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0827E2-A87B-4E7A-BE2E-B6602A9FB7A2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268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Inbound Control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F6070B-6791-41DC-B5C9-A61DC207FE30}"/>
              </a:ext>
            </a:extLst>
          </p:cNvPr>
          <p:cNvSpPr>
            <a:spLocks noGrp="1"/>
          </p:cNvSpPr>
          <p:nvPr/>
        </p:nvSpPr>
        <p:spPr>
          <a:xfrm>
            <a:off x="9144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BA5DF7-63CF-45BB-99DE-E50F2931939F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槽車：單據／接地／取樣／卸料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456D5A-F290-4FF4-A86C-69C6BE0EAE64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E196A9-EE4E-4FD4-8992-F1964824541B}"/>
              </a:ext>
            </a:extLst>
          </p:cNvPr>
          <p:cNvSpPr>
            <a:spLocks noGrp="1"/>
          </p:cNvSpPr>
          <p:nvPr/>
        </p:nvSpPr>
        <p:spPr>
          <a:xfrm>
            <a:off x="1143000" y="368617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包材：品名／數量／外觀／棧板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F2927C-71D2-4976-8ED5-961A3752E748}"/>
              </a:ext>
            </a:extLst>
          </p:cNvPr>
          <p:cNvSpPr>
            <a:spLocks noGrp="1"/>
          </p:cNvSpPr>
          <p:nvPr/>
        </p:nvSpPr>
        <p:spPr>
          <a:xfrm>
            <a:off x="4000500" y="33337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E58B3A"/>
                </a:solidFill>
              </a:defRPr>
            </a:pPr>
            <a:r>
              <a:rPr sz="28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A970BD4F-7181-4990-AB1F-772E716EA0FB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CC63496-F13A-4417-8D95-0DE3AA0DA0D1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704850"/>
          </a:xfrm>
          <a:prstGeom prst="roundRect">
            <a:avLst>
              <a:gd name="adj" fmla="val 10811"/>
            </a:avLst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352701-4432-4799-A1ED-97F47AC99E56}"/>
              </a:ext>
            </a:extLst>
          </p:cNvPr>
          <p:cNvSpPr>
            <a:spLocks noGrp="1"/>
          </p:cNvSpPr>
          <p:nvPr/>
        </p:nvSpPr>
        <p:spPr>
          <a:xfrm>
            <a:off x="4752975" y="24765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 儲存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40D492-75AD-4B7A-B085-0638A3BECE3C}"/>
              </a:ext>
            </a:extLst>
          </p:cNvPr>
          <p:cNvSpPr>
            <a:spLocks noGrp="1"/>
          </p:cNvSpPr>
          <p:nvPr/>
        </p:nvSpPr>
        <p:spPr>
          <a:xfrm>
            <a:off x="4752975" y="2771775"/>
            <a:ext cx="268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Storage Control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9B9764-5870-45DD-B839-31290A85443F}"/>
              </a:ext>
            </a:extLst>
          </p:cNvPr>
          <p:cNvSpPr>
            <a:spLocks noGrp="1"/>
          </p:cNvSpPr>
          <p:nvPr/>
        </p:nvSpPr>
        <p:spPr>
          <a:xfrm>
            <a:off x="4752975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445761-6F8C-476C-9888-99FF6ECA9EF8}"/>
              </a:ext>
            </a:extLst>
          </p:cNvPr>
          <p:cNvSpPr>
            <a:spLocks noGrp="1"/>
          </p:cNvSpPr>
          <p:nvPr/>
        </p:nvSpPr>
        <p:spPr>
          <a:xfrm>
            <a:off x="4981575" y="330517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槽區：液位／壓力／溫控／耗材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D22A51-BBB7-4D75-A99E-6CEB9C7038A2}"/>
              </a:ext>
            </a:extLst>
          </p:cNvPr>
          <p:cNvSpPr>
            <a:spLocks noGrp="1"/>
          </p:cNvSpPr>
          <p:nvPr/>
        </p:nvSpPr>
        <p:spPr>
          <a:xfrm>
            <a:off x="4752975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7EF3A4-1C58-46AC-A107-FC9E842B0573}"/>
              </a:ext>
            </a:extLst>
          </p:cNvPr>
          <p:cNvSpPr>
            <a:spLocks noGrp="1"/>
          </p:cNvSpPr>
          <p:nvPr/>
        </p:nvSpPr>
        <p:spPr>
          <a:xfrm>
            <a:off x="4981575" y="368617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包材：環境／FIFO／堆疊／標示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F661F4-926E-4AE7-BB66-E0E11993D3B8}"/>
              </a:ext>
            </a:extLst>
          </p:cNvPr>
          <p:cNvSpPr>
            <a:spLocks noGrp="1"/>
          </p:cNvSpPr>
          <p:nvPr/>
        </p:nvSpPr>
        <p:spPr>
          <a:xfrm>
            <a:off x="7839075" y="33337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850" b="1">
                <a:solidFill>
                  <a:srgbClr val="E58B3A"/>
                </a:solidFill>
              </a:defRPr>
            </a:pPr>
            <a:r>
              <a:rPr sz="28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DA0B74BF-0D08-4A6A-8E8A-262B5B17CFE0}"/>
              </a:ext>
            </a:extLst>
          </p:cNvPr>
          <p:cNvSpPr>
            <a:spLocks noGrp="1"/>
          </p:cNvSpPr>
          <p:nvPr/>
        </p:nvSpPr>
        <p:spPr>
          <a:xfrm>
            <a:off x="8362950" y="2333625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B001569E-E34A-4ED7-A24F-FBE55509BF70}"/>
              </a:ext>
            </a:extLst>
          </p:cNvPr>
          <p:cNvSpPr>
            <a:spLocks noGrp="1"/>
          </p:cNvSpPr>
          <p:nvPr/>
        </p:nvSpPr>
        <p:spPr>
          <a:xfrm>
            <a:off x="8362950" y="2333625"/>
            <a:ext cx="3143250" cy="704850"/>
          </a:xfrm>
          <a:prstGeom prst="roundRect">
            <a:avLst>
              <a:gd name="adj" fmla="val 10811"/>
            </a:avLst>
          </a:prstGeom>
          <a:solidFill>
            <a:srgbClr val="E58B3A"/>
          </a:solidFill>
          <a:ln w="9525">
            <a:solidFill>
              <a:srgbClr val="E58B3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89986F-39C0-471F-A479-B9532E290E42}"/>
              </a:ext>
            </a:extLst>
          </p:cNvPr>
          <p:cNvSpPr>
            <a:spLocks noGrp="1"/>
          </p:cNvSpPr>
          <p:nvPr/>
        </p:nvSpPr>
        <p:spPr>
          <a:xfrm>
            <a:off x="8591550" y="2476500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 出貨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746214-F6E8-4625-B57E-57718FF71D71}"/>
              </a:ext>
            </a:extLst>
          </p:cNvPr>
          <p:cNvSpPr>
            <a:spLocks noGrp="1"/>
          </p:cNvSpPr>
          <p:nvPr/>
        </p:nvSpPr>
        <p:spPr>
          <a:xfrm>
            <a:off x="8591550" y="2771775"/>
            <a:ext cx="2686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Outbound Control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354BFD-8F57-44DB-AB19-AB1929056B44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E69F9F-EEC9-471B-A6CC-6608EF620CB4}"/>
              </a:ext>
            </a:extLst>
          </p:cNvPr>
          <p:cNvSpPr>
            <a:spLocks noGrp="1"/>
          </p:cNvSpPr>
          <p:nvPr/>
        </p:nvSpPr>
        <p:spPr>
          <a:xfrm>
            <a:off x="8820150" y="330517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槽車：清潔／Flush／灌裝／封籤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450D062-0EE8-4E96-965F-C2F752630295}"/>
              </a:ext>
            </a:extLst>
          </p:cNvPr>
          <p:cNvSpPr>
            <a:spLocks noGrp="1"/>
          </p:cNvSpPr>
          <p:nvPr/>
        </p:nvSpPr>
        <p:spPr>
          <a:xfrm>
            <a:off x="859155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6A3E43-9283-49F2-BCBB-A98656097959}"/>
              </a:ext>
            </a:extLst>
          </p:cNvPr>
          <p:cNvSpPr>
            <a:spLocks noGrp="1"/>
          </p:cNvSpPr>
          <p:nvPr/>
        </p:nvSpPr>
        <p:spPr>
          <a:xfrm>
            <a:off x="8820150" y="3686175"/>
            <a:ext cx="251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包材：空桶／重量／裝櫃核對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10ABFC0E-99DB-4D16-ABDB-53C55BD3822A}"/>
              </a:ext>
            </a:extLst>
          </p:cNvPr>
          <p:cNvSpPr>
            <a:spLocks noGrp="1"/>
          </p:cNvSpPr>
          <p:nvPr/>
        </p:nvSpPr>
        <p:spPr>
          <a:xfrm>
            <a:off x="3257550" y="5676900"/>
            <a:ext cx="5676900" cy="400050"/>
          </a:xfrm>
          <a:prstGeom prst="roundRect">
            <a:avLst>
              <a:gd name="adj" fmla="val 19048"/>
            </a:avLst>
          </a:prstGeom>
          <a:solidFill>
            <a:srgbClr val="123047"/>
          </a:solidFill>
          <a:ln w="9525">
            <a:solidFill>
              <a:srgbClr val="12304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CC797A4-1973-4108-82A5-7284EE97C209}"/>
              </a:ext>
            </a:extLst>
          </p:cNvPr>
          <p:cNvSpPr>
            <a:spLocks noGrp="1"/>
          </p:cNvSpPr>
          <p:nvPr/>
        </p:nvSpPr>
        <p:spPr>
          <a:xfrm>
            <a:off x="3505200" y="5772150"/>
            <a:ext cx="518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ERP／MES　→　自動化單據、庫存異動與稽核紀錄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7E86F3-B5A6-42DD-8AC8-FA683ADA3F3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231805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141888A8-DB1E-4724-BA2C-BD7AA32991F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03｜進貨作業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740857-64D3-4E9D-9D38-577D3F5F22BC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進貨先確認「對不對、安不安全、能不能接收」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94F82D-7349-4BC9-B250-2BF38678FC5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321C3D-B002-49F5-9E9C-B5E8F91F2A6A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04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5982D0A-F620-4D09-813A-53504C42CA0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963EA9DC-C933-4D3B-86E5-28009306473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704850"/>
          </a:xfrm>
          <a:prstGeom prst="roundRect">
            <a:avLst>
              <a:gd name="adj" fmla="val 10811"/>
            </a:avLst>
          </a:prstGeom>
          <a:solidFill>
            <a:srgbClr val="1F6F8B"/>
          </a:solidFill>
          <a:ln w="9525">
            <a:solidFill>
              <a:srgbClr val="1F6F8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E2A8B1-B983-4429-962A-E9B8273CA66B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散裝槽車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69EFE5-2EAF-44C2-B23E-4A3C1FDFD317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459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槽車卸料防呆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FC3857-83B8-44BF-94D1-2563BA06F796}"/>
              </a:ext>
            </a:extLst>
          </p:cNvPr>
          <p:cNvSpPr>
            <a:spLocks noGrp="1"/>
          </p:cNvSpPr>
          <p:nvPr/>
        </p:nvSpPr>
        <p:spPr>
          <a:xfrm>
            <a:off x="914400" y="2924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ED8532-7B5D-4F8B-BB2F-15CC747F7ACD}"/>
              </a:ext>
            </a:extLst>
          </p:cNvPr>
          <p:cNvSpPr>
            <a:spLocks noGrp="1"/>
          </p:cNvSpPr>
          <p:nvPr/>
        </p:nvSpPr>
        <p:spPr>
          <a:xfrm>
            <a:off x="1143000" y="2924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單據與槽別、品名核對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CA2E40-68FD-416E-A1E6-D27D36A1EC7D}"/>
              </a:ext>
            </a:extLst>
          </p:cNvPr>
          <p:cNvSpPr>
            <a:spLocks noGrp="1"/>
          </p:cNvSpPr>
          <p:nvPr/>
        </p:nvSpPr>
        <p:spPr>
          <a:xfrm>
            <a:off x="9144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BA66E2-11AC-469A-BE2B-E8EE09E1F290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輪檔定位；防靜電接地 &lt; 10Ω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DDA9AD-4EFE-4EE0-9C22-87FE153FE839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47D8CF-8076-4097-BC4B-349D4BFD9899}"/>
              </a:ext>
            </a:extLst>
          </p:cNvPr>
          <p:cNvSpPr>
            <a:spLocks noGrp="1"/>
          </p:cNvSpPr>
          <p:nvPr/>
        </p:nvSpPr>
        <p:spPr>
          <a:xfrm>
            <a:off x="1143000" y="3686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品管取樣合格後才可接管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A5FE38-1D06-4A1E-90DB-BE4F408837F3}"/>
              </a:ext>
            </a:extLst>
          </p:cNvPr>
          <p:cNvSpPr>
            <a:spLocks noGrp="1"/>
          </p:cNvSpPr>
          <p:nvPr/>
        </p:nvSpPr>
        <p:spPr>
          <a:xfrm>
            <a:off x="914400" y="4067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9A63D1-EB6A-4043-BB96-B2C7659D9390}"/>
              </a:ext>
            </a:extLst>
          </p:cNvPr>
          <p:cNvSpPr>
            <a:spLocks noGrp="1"/>
          </p:cNvSpPr>
          <p:nvPr/>
        </p:nvSpPr>
        <p:spPr>
          <a:xfrm>
            <a:off x="1143000" y="4067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卸料完成後氮氣壓空與洩壓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4CB7E32-263F-40B4-A6CB-0BF764C24E67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50673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55E62922-E8EB-4A71-B420-130F2558DD42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5067300" cy="704850"/>
          </a:xfrm>
          <a:prstGeom prst="roundRect">
            <a:avLst>
              <a:gd name="adj" fmla="val 10811"/>
            </a:avLst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8BB73D-2BE8-433D-8DD0-81133ED23864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小包材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67247C-A6E5-40A9-A972-B3191653CC02}"/>
              </a:ext>
            </a:extLst>
          </p:cNvPr>
          <p:cNvSpPr>
            <a:spLocks noGrp="1"/>
          </p:cNvSpPr>
          <p:nvPr/>
        </p:nvSpPr>
        <p:spPr>
          <a:xfrm>
            <a:off x="6667500" y="2390775"/>
            <a:ext cx="461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200L／1T／Pails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424937-5DE3-4D00-BC68-D095BD3E4BAD}"/>
              </a:ext>
            </a:extLst>
          </p:cNvPr>
          <p:cNvSpPr>
            <a:spLocks noGrp="1"/>
          </p:cNvSpPr>
          <p:nvPr/>
        </p:nvSpPr>
        <p:spPr>
          <a:xfrm>
            <a:off x="6667500" y="2924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899548-4041-4B98-A6BC-E37E30FF8CC4}"/>
              </a:ext>
            </a:extLst>
          </p:cNvPr>
          <p:cNvSpPr>
            <a:spLocks noGrp="1"/>
          </p:cNvSpPr>
          <p:nvPr/>
        </p:nvSpPr>
        <p:spPr>
          <a:xfrm>
            <a:off x="6896100" y="2924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入廠核對品名與數量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C23663-DEE8-4D15-91D3-66A817155315}"/>
              </a:ext>
            </a:extLst>
          </p:cNvPr>
          <p:cNvSpPr>
            <a:spLocks noGrp="1"/>
          </p:cNvSpPr>
          <p:nvPr/>
        </p:nvSpPr>
        <p:spPr>
          <a:xfrm>
            <a:off x="66675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FE35D7-AE07-40F2-B2E5-181E15AAA51E}"/>
              </a:ext>
            </a:extLst>
          </p:cNvPr>
          <p:cNvSpPr>
            <a:spLocks noGrp="1"/>
          </p:cNvSpPr>
          <p:nvPr/>
        </p:nvSpPr>
        <p:spPr>
          <a:xfrm>
            <a:off x="6896100" y="3305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檢查破損與清潔度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C7D83B-0649-43DB-8913-D4C595FBDDE1}"/>
              </a:ext>
            </a:extLst>
          </p:cNvPr>
          <p:cNvSpPr>
            <a:spLocks noGrp="1"/>
          </p:cNvSpPr>
          <p:nvPr/>
        </p:nvSpPr>
        <p:spPr>
          <a:xfrm>
            <a:off x="66675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20F429E-D72E-4DE3-856A-0DBC2142C4EE}"/>
              </a:ext>
            </a:extLst>
          </p:cNvPr>
          <p:cNvSpPr>
            <a:spLocks noGrp="1"/>
          </p:cNvSpPr>
          <p:nvPr/>
        </p:nvSpPr>
        <p:spPr>
          <a:xfrm>
            <a:off x="6896100" y="3686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確認棧板完整性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B18DBD-7FFC-4D73-91CA-AE07AEF6B6A9}"/>
              </a:ext>
            </a:extLst>
          </p:cNvPr>
          <p:cNvSpPr>
            <a:spLocks noGrp="1"/>
          </p:cNvSpPr>
          <p:nvPr/>
        </p:nvSpPr>
        <p:spPr>
          <a:xfrm>
            <a:off x="6667500" y="4067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7F4DE6-D416-4F96-A2E5-D0F18F98891E}"/>
              </a:ext>
            </a:extLst>
          </p:cNvPr>
          <p:cNvSpPr>
            <a:spLocks noGrp="1"/>
          </p:cNvSpPr>
          <p:nvPr/>
        </p:nvSpPr>
        <p:spPr>
          <a:xfrm>
            <a:off x="6896100" y="4067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不符合項目隔離並回報處理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2DCEFA5C-490B-42C2-B36D-76B8914EBA4A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9525">
            <a:solidFill>
              <a:srgbClr val="F0C99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01F3B3-2405-43AC-9441-F30FB6EC7768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32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965A22"/>
                </a:solidFill>
              </a:defRPr>
            </a:pPr>
            <a:r>
              <a:rPr sz="1650" b="1">
                <a:solidFill>
                  <a:srgbClr val="965A22"/>
                </a:solidFill>
              </a:rPr>
              <a:t>進貨放行條件：單據一致＋安全條件完成＋品管確認合格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E4FD1F1-918B-4E1F-B2B9-D3D189B98C63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129897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2E39DC8-DDF0-4486-82A5-C68085921C0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04｜儲存管制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8E2596-3208-4599-88FF-0360AE517D0F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儲存管理的核心，是維持品質穩定並讓庫存先進先出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32595E-684B-4B4C-A494-18688D5E3C7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395A5F-8DC7-4046-B546-C6559EFABBFA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05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F55A8429-B175-4952-832A-7A60C3DBF2E9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D88C574-2FD5-4FBC-80DC-CB09663339E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704850"/>
          </a:xfrm>
          <a:prstGeom prst="roundRect">
            <a:avLst>
              <a:gd name="adj" fmla="val 10811"/>
            </a:avLst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6BE29D-81BC-4658-9837-49F98B4568AA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散裝儲槽管理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7477A3-976F-4657-BB86-680207A03300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459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設備與製程條件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ABE30D-E821-4050-A725-77F74266A36D}"/>
              </a:ext>
            </a:extLst>
          </p:cNvPr>
          <p:cNvSpPr>
            <a:spLocks noGrp="1"/>
          </p:cNvSpPr>
          <p:nvPr/>
        </p:nvSpPr>
        <p:spPr>
          <a:xfrm>
            <a:off x="914400" y="2924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FE5169-0651-493C-B07A-01038D2FABB0}"/>
              </a:ext>
            </a:extLst>
          </p:cNvPr>
          <p:cNvSpPr>
            <a:spLocks noGrp="1"/>
          </p:cNvSpPr>
          <p:nvPr/>
        </p:nvSpPr>
        <p:spPr>
          <a:xfrm>
            <a:off x="1143000" y="2924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每日巡檢液位、壓力與異常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9B9952-C9CC-47A6-8287-A2E5D2973B59}"/>
              </a:ext>
            </a:extLst>
          </p:cNvPr>
          <p:cNvSpPr>
            <a:spLocks noGrp="1"/>
          </p:cNvSpPr>
          <p:nvPr/>
        </p:nvSpPr>
        <p:spPr>
          <a:xfrm>
            <a:off x="9144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26DFCA-D9AC-40C7-BAC7-8EA878B4B011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GAA 氣溫低於 16°C 啟動保溫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161AF2-041B-417F-99FF-B17E1662EA7F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29471C-362E-4DA6-9B14-A2AB879E5B9C}"/>
              </a:ext>
            </a:extLst>
          </p:cNvPr>
          <p:cNvSpPr>
            <a:spLocks noGrp="1"/>
          </p:cNvSpPr>
          <p:nvPr/>
        </p:nvSpPr>
        <p:spPr>
          <a:xfrm>
            <a:off x="1143000" y="3686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過濾袋壓差 &gt; 2 kg/cm² 或滿一年更換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6056519-3217-4A7C-963B-226BE1F5CE42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50673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39DC019-51C6-4B2B-8038-9B26B4B9BD66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5067300" cy="704850"/>
          </a:xfrm>
          <a:prstGeom prst="roundRect">
            <a:avLst>
              <a:gd name="adj" fmla="val 10811"/>
            </a:avLst>
          </a:prstGeom>
          <a:solidFill>
            <a:srgbClr val="1F6F8B"/>
          </a:solidFill>
          <a:ln w="9525">
            <a:solidFill>
              <a:srgbClr val="1F6F8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297579-BB6C-4C48-BA00-913D874B5B4B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小包材庫存管理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299F00-C133-46D2-9421-CE6998B3D68C}"/>
              </a:ext>
            </a:extLst>
          </p:cNvPr>
          <p:cNvSpPr>
            <a:spLocks noGrp="1"/>
          </p:cNvSpPr>
          <p:nvPr/>
        </p:nvSpPr>
        <p:spPr>
          <a:xfrm>
            <a:off x="6667500" y="2390775"/>
            <a:ext cx="461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環境與堆放條件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E30A18-E855-467F-8F53-1EC839ED112D}"/>
              </a:ext>
            </a:extLst>
          </p:cNvPr>
          <p:cNvSpPr>
            <a:spLocks noGrp="1"/>
          </p:cNvSpPr>
          <p:nvPr/>
        </p:nvSpPr>
        <p:spPr>
          <a:xfrm>
            <a:off x="6667500" y="2924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D5F234-05B1-4C2B-A43D-6F39376CDC5F}"/>
              </a:ext>
            </a:extLst>
          </p:cNvPr>
          <p:cNvSpPr>
            <a:spLocks noGrp="1"/>
          </p:cNvSpPr>
          <p:nvPr/>
        </p:nvSpPr>
        <p:spPr>
          <a:xfrm>
            <a:off x="6896100" y="2924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巡檢溫濕度與通風條件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49CBDA-392C-4A3B-89DE-8B21A9C681A3}"/>
              </a:ext>
            </a:extLst>
          </p:cNvPr>
          <p:cNvSpPr>
            <a:spLocks noGrp="1"/>
          </p:cNvSpPr>
          <p:nvPr/>
        </p:nvSpPr>
        <p:spPr>
          <a:xfrm>
            <a:off x="66675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E562A5-695D-42B6-9BB9-26E668B484B2}"/>
              </a:ext>
            </a:extLst>
          </p:cNvPr>
          <p:cNvSpPr>
            <a:spLocks noGrp="1"/>
          </p:cNvSpPr>
          <p:nvPr/>
        </p:nvSpPr>
        <p:spPr>
          <a:xfrm>
            <a:off x="6896100" y="3305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落實 FIFO（先進先出）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7F3858-53F6-47A9-945A-42F741584782}"/>
              </a:ext>
            </a:extLst>
          </p:cNvPr>
          <p:cNvSpPr>
            <a:spLocks noGrp="1"/>
          </p:cNvSpPr>
          <p:nvPr/>
        </p:nvSpPr>
        <p:spPr>
          <a:xfrm>
            <a:off x="66675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A3F900-5495-475E-9FF3-85CC0B5A1D11}"/>
              </a:ext>
            </a:extLst>
          </p:cNvPr>
          <p:cNvSpPr>
            <a:spLocks noGrp="1"/>
          </p:cNvSpPr>
          <p:nvPr/>
        </p:nvSpPr>
        <p:spPr>
          <a:xfrm>
            <a:off x="6896100" y="3686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規範堆疊高度、傾倒防護與入庫標示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953C493C-0156-4D72-845D-CD09F2F6A50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EAF5F2"/>
          </a:solidFill>
          <a:ln w="9525">
            <a:solidFill>
              <a:srgbClr val="B7DDD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A57FC8-093D-487A-B7B3-8F7237989691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32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256B67"/>
                </a:solidFill>
              </a:defRPr>
            </a:pPr>
            <a:r>
              <a:rPr sz="1650" b="1">
                <a:solidFill>
                  <a:srgbClr val="256B67"/>
                </a:solidFill>
              </a:rPr>
              <a:t>巡檢結果要能被記錄、追蹤，才能支援定檢與庫存盤點。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5C6B4A6-CBB5-45B7-AE0A-067CDB688754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98711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3AC8F2D4-F2D5-4158-89EC-4D92AF605A2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05｜出貨灌裝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CA45D2-02C2-4CFE-9055-004FF2B7720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出貨以「純度、重量、封裝與現場安全」作為放行底線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B456D5-E23F-483D-BE2A-1F467637009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0FD3B8-2A2A-4498-AFE6-B2336B58EC34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06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E2E60C5-E010-494C-9AC4-C555D23A9A9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48CFB5C-DA1B-42FF-986E-078D6B270496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704850"/>
          </a:xfrm>
          <a:prstGeom prst="roundRect">
            <a:avLst>
              <a:gd name="adj" fmla="val 10811"/>
            </a:avLst>
          </a:prstGeom>
          <a:solidFill>
            <a:srgbClr val="E58B3A"/>
          </a:solidFill>
          <a:ln w="9525">
            <a:solidFill>
              <a:srgbClr val="E58B3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F504B3-904C-4CD5-9D4E-6AE859977B3E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散裝與 ISO TANK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8AF41A-17F7-4E2F-883B-350CDF691507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4591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灌裝全程管制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5FAD6C-0803-45F5-ADF1-5ED9301B27A8}"/>
              </a:ext>
            </a:extLst>
          </p:cNvPr>
          <p:cNvSpPr>
            <a:spLocks noGrp="1"/>
          </p:cNvSpPr>
          <p:nvPr/>
        </p:nvSpPr>
        <p:spPr>
          <a:xfrm>
            <a:off x="914400" y="2924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825C64-2C66-4A61-B42F-090D343AC01D}"/>
              </a:ext>
            </a:extLst>
          </p:cNvPr>
          <p:cNvSpPr>
            <a:spLocks noGrp="1"/>
          </p:cNvSpPr>
          <p:nvPr/>
        </p:nvSpPr>
        <p:spPr>
          <a:xfrm>
            <a:off x="1143000" y="2924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出廠安檢：內部與外觀清潔度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3381B2-17CD-4C0C-8E4F-998925319A4F}"/>
              </a:ext>
            </a:extLst>
          </p:cNvPr>
          <p:cNvSpPr>
            <a:spLocks noGrp="1"/>
          </p:cNvSpPr>
          <p:nvPr/>
        </p:nvSpPr>
        <p:spPr>
          <a:xfrm>
            <a:off x="9144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A33F2F-DD87-433A-8BB7-303B5639210D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灌裝前 Flush：工業級 40L／電子級 200L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CA4A42-8147-4300-86D3-6C36A66A18AD}"/>
              </a:ext>
            </a:extLst>
          </p:cNvPr>
          <p:cNvSpPr>
            <a:spLocks noGrp="1"/>
          </p:cNvSpPr>
          <p:nvPr/>
        </p:nvSpPr>
        <p:spPr>
          <a:xfrm>
            <a:off x="9144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F17E82-3BB7-45E2-B2F8-4F933FA7BA4F}"/>
              </a:ext>
            </a:extLst>
          </p:cNvPr>
          <p:cNvSpPr>
            <a:spLocks noGrp="1"/>
          </p:cNvSpPr>
          <p:nvPr/>
        </p:nvSpPr>
        <p:spPr>
          <a:xfrm>
            <a:off x="1143000" y="3686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EBR 預先攪拌；操作員不得離場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75F674-7E8C-4D15-ABC2-068FD0A091D8}"/>
              </a:ext>
            </a:extLst>
          </p:cNvPr>
          <p:cNvSpPr>
            <a:spLocks noGrp="1"/>
          </p:cNvSpPr>
          <p:nvPr/>
        </p:nvSpPr>
        <p:spPr>
          <a:xfrm>
            <a:off x="914400" y="4067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47E5F6-94BC-47BC-BC20-24E099537009}"/>
              </a:ext>
            </a:extLst>
          </p:cNvPr>
          <p:cNvSpPr>
            <a:spLocks noGrp="1"/>
          </p:cNvSpPr>
          <p:nvPr/>
        </p:nvSpPr>
        <p:spPr>
          <a:xfrm>
            <a:off x="1143000" y="4067175"/>
            <a:ext cx="4419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氮氣壓空、洩壓並加防偽封籤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19F4B30-6721-4C83-9FF6-62773380845E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50673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3CFD4696-C159-4501-B8A6-9ED108B226BD}"/>
              </a:ext>
            </a:extLst>
          </p:cNvPr>
          <p:cNvSpPr>
            <a:spLocks noGrp="1"/>
          </p:cNvSpPr>
          <p:nvPr/>
        </p:nvSpPr>
        <p:spPr>
          <a:xfrm>
            <a:off x="6438900" y="1952625"/>
            <a:ext cx="5067300" cy="704850"/>
          </a:xfrm>
          <a:prstGeom prst="roundRect">
            <a:avLst>
              <a:gd name="adj" fmla="val 10811"/>
            </a:avLst>
          </a:prstGeom>
          <a:solidFill>
            <a:srgbClr val="1F6F8B"/>
          </a:solidFill>
          <a:ln w="9525">
            <a:solidFill>
              <a:srgbClr val="1F6F8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283B8B-2A94-43B6-A6D2-4B7CBB080CD5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61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小包材灌裝出貨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A077FF-DB0E-4ECB-A2AF-3B101223D99C}"/>
              </a:ext>
            </a:extLst>
          </p:cNvPr>
          <p:cNvSpPr>
            <a:spLocks noGrp="1"/>
          </p:cNvSpPr>
          <p:nvPr/>
        </p:nvSpPr>
        <p:spPr>
          <a:xfrm>
            <a:off x="6667500" y="2390775"/>
            <a:ext cx="461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包裝與裝櫃管制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7E5783-ECC6-48A6-8E92-38CE06F6FA5E}"/>
              </a:ext>
            </a:extLst>
          </p:cNvPr>
          <p:cNvSpPr>
            <a:spLocks noGrp="1"/>
          </p:cNvSpPr>
          <p:nvPr/>
        </p:nvSpPr>
        <p:spPr>
          <a:xfrm>
            <a:off x="6667500" y="2924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E91D86-F68D-4A34-ACD4-E43DCE28A3FA}"/>
              </a:ext>
            </a:extLst>
          </p:cNvPr>
          <p:cNvSpPr>
            <a:spLocks noGrp="1"/>
          </p:cNvSpPr>
          <p:nvPr/>
        </p:nvSpPr>
        <p:spPr>
          <a:xfrm>
            <a:off x="6896100" y="2924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空桶內部清潔度抽檢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4F4362-3CC3-48E6-99CB-B2A6F1572CF9}"/>
              </a:ext>
            </a:extLst>
          </p:cNvPr>
          <p:cNvSpPr>
            <a:spLocks noGrp="1"/>
          </p:cNvSpPr>
          <p:nvPr/>
        </p:nvSpPr>
        <p:spPr>
          <a:xfrm>
            <a:off x="6667500" y="3305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C5E3F5-E959-48B9-88DE-1F494232C0DF}"/>
              </a:ext>
            </a:extLst>
          </p:cNvPr>
          <p:cNvSpPr>
            <a:spLocks noGrp="1"/>
          </p:cNvSpPr>
          <p:nvPr/>
        </p:nvSpPr>
        <p:spPr>
          <a:xfrm>
            <a:off x="6896100" y="3305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灌裝重量與液位嚴格檢核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B4BC61-407F-4F1E-A0AB-98A35FBE7E27}"/>
              </a:ext>
            </a:extLst>
          </p:cNvPr>
          <p:cNvSpPr>
            <a:spLocks noGrp="1"/>
          </p:cNvSpPr>
          <p:nvPr/>
        </p:nvSpPr>
        <p:spPr>
          <a:xfrm>
            <a:off x="6667500" y="3686175"/>
            <a:ext cx="19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09D94A-D96A-4901-B37F-AB374DAE6D61}"/>
              </a:ext>
            </a:extLst>
          </p:cNvPr>
          <p:cNvSpPr>
            <a:spLocks noGrp="1"/>
          </p:cNvSpPr>
          <p:nvPr/>
        </p:nvSpPr>
        <p:spPr>
          <a:xfrm>
            <a:off x="6896100" y="3686175"/>
            <a:ext cx="4438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封蓋、標示、裝櫃與疊板核對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DA30FD8-71C2-4027-AB0F-15E3AEEBE33D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9525">
            <a:solidFill>
              <a:srgbClr val="F0C99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218424-5DAC-4553-A894-9E445B229BC2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32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1">
                <a:solidFill>
                  <a:srgbClr val="965A22"/>
                </a:solidFill>
              </a:defRPr>
            </a:pPr>
            <a:r>
              <a:rPr sz="1650" b="1">
                <a:solidFill>
                  <a:srgbClr val="965A22"/>
                </a:solidFill>
              </a:rPr>
              <a:t>出貨放行條件：清潔確認＋灌裝數據正確＋封裝與裝櫃完成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C5536A-23C6-4E80-94A9-F2BC08EBED0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142865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57B5691-E0C7-4271-B0D4-D408390F74C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06｜管制重點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741AC9-87F2-45F5-AEF4-66112EC054DA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把關鍵動作標準化，才能降低人為疏漏與品質風險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973BDB-C021-49F0-94C9-FCE9FE074163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19050"/>
          </a:xfrm>
          <a:prstGeom prst="rect">
            <a:avLst/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F04EC1-CCA5-49D5-9C66-16657B6B7826}"/>
              </a:ext>
            </a:extLst>
          </p:cNvPr>
          <p:cNvSpPr>
            <a:spLocks noGrp="1"/>
          </p:cNvSpPr>
          <p:nvPr/>
        </p:nvSpPr>
        <p:spPr>
          <a:xfrm>
            <a:off x="11049000" y="3619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7B6D9D-97BC-4A81-9B4C-28D95D0BE0DB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5F747E"/>
                </a:solidFill>
              </a:defRPr>
            </a:pPr>
            <a:r>
              <a:rPr sz="1650" b="0">
                <a:solidFill>
                  <a:srgbClr val="5F747E"/>
                </a:solidFill>
              </a:rPr>
              <a:t>四個控制面向共同支撐進出貨與倉儲流程：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921FEC9-FA6D-4669-97EC-91B0C3993D72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809750" cy="609600"/>
          </a:xfrm>
          <a:prstGeom prst="roundRect">
            <a:avLst>
              <a:gd name="adj" fmla="val 12500"/>
            </a:avLst>
          </a:prstGeom>
          <a:solidFill>
            <a:srgbClr val="1F6F8B"/>
          </a:solidFill>
          <a:ln w="9525">
            <a:solidFill>
              <a:srgbClr val="1F6F8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9CE9A1-EAF7-4380-8D60-DBE4AB12D7D9}"/>
              </a:ext>
            </a:extLst>
          </p:cNvPr>
          <p:cNvSpPr>
            <a:spLocks noGrp="1"/>
          </p:cNvSpPr>
          <p:nvPr/>
        </p:nvSpPr>
        <p:spPr>
          <a:xfrm>
            <a:off x="914400" y="2295525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安全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D70B3F85-1BDA-457A-B2BE-36A63A71E903}"/>
              </a:ext>
            </a:extLst>
          </p:cNvPr>
          <p:cNvSpPr>
            <a:spLocks noGrp="1"/>
          </p:cNvSpPr>
          <p:nvPr/>
        </p:nvSpPr>
        <p:spPr>
          <a:xfrm>
            <a:off x="2686050" y="2143125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11FBEC-C5E1-4A4A-8849-CDC4C7B8FE00}"/>
              </a:ext>
            </a:extLst>
          </p:cNvPr>
          <p:cNvSpPr>
            <a:spLocks noGrp="1"/>
          </p:cNvSpPr>
          <p:nvPr/>
        </p:nvSpPr>
        <p:spPr>
          <a:xfrm>
            <a:off x="2952750" y="229552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定位、接地、壓空洩壓、全程監控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B11FB29A-63FF-42D5-91DC-6D60A7FAB49D}"/>
              </a:ext>
            </a:extLst>
          </p:cNvPr>
          <p:cNvSpPr>
            <a:spLocks noGrp="1"/>
          </p:cNvSpPr>
          <p:nvPr/>
        </p:nvSpPr>
        <p:spPr>
          <a:xfrm>
            <a:off x="7829550" y="2143125"/>
            <a:ext cx="3676650" cy="609600"/>
          </a:xfrm>
          <a:prstGeom prst="roundRect">
            <a:avLst>
              <a:gd name="adj" fmla="val 12500"/>
            </a:avLst>
          </a:prstGeom>
          <a:solidFill>
            <a:srgbClr val="EAF0F2"/>
          </a:solidFill>
          <a:ln w="9525">
            <a:solidFill>
              <a:srgbClr val="D5E1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093631-559D-4C9F-B54F-FD6FD3070498}"/>
              </a:ext>
            </a:extLst>
          </p:cNvPr>
          <p:cNvSpPr>
            <a:spLocks noGrp="1"/>
          </p:cNvSpPr>
          <p:nvPr/>
        </p:nvSpPr>
        <p:spPr>
          <a:xfrm>
            <a:off x="8096250" y="22955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避免人員與設備事故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1DF2BBB-EC6F-4F99-9DCB-BC1F41EEF66C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1809750" cy="609600"/>
          </a:xfrm>
          <a:prstGeom prst="roundRect">
            <a:avLst>
              <a:gd name="adj" fmla="val 12500"/>
            </a:avLst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58A9E6-727D-4311-BEC0-305ACCDCF913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品質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F031A4F3-2499-4573-B7E1-189786558141}"/>
              </a:ext>
            </a:extLst>
          </p:cNvPr>
          <p:cNvSpPr>
            <a:spLocks noGrp="1"/>
          </p:cNvSpPr>
          <p:nvPr/>
        </p:nvSpPr>
        <p:spPr>
          <a:xfrm>
            <a:off x="2686050" y="2981325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6B113A-7CC5-4D0D-A4F9-903AB93107B3}"/>
              </a:ext>
            </a:extLst>
          </p:cNvPr>
          <p:cNvSpPr>
            <a:spLocks noGrp="1"/>
          </p:cNvSpPr>
          <p:nvPr/>
        </p:nvSpPr>
        <p:spPr>
          <a:xfrm>
            <a:off x="2952750" y="313372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取樣合格、清潔度、Flush、重量液位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E34C0113-79C9-4F35-AF06-D29EE7003C8B}"/>
              </a:ext>
            </a:extLst>
          </p:cNvPr>
          <p:cNvSpPr>
            <a:spLocks noGrp="1"/>
          </p:cNvSpPr>
          <p:nvPr/>
        </p:nvSpPr>
        <p:spPr>
          <a:xfrm>
            <a:off x="7829550" y="2981325"/>
            <a:ext cx="3676650" cy="609600"/>
          </a:xfrm>
          <a:prstGeom prst="roundRect">
            <a:avLst>
              <a:gd name="adj" fmla="val 12500"/>
            </a:avLst>
          </a:prstGeom>
          <a:solidFill>
            <a:srgbClr val="EAF0F2"/>
          </a:solidFill>
          <a:ln w="9525">
            <a:solidFill>
              <a:srgbClr val="D5E1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5EB63B-FEAA-4C76-87FD-128A25D67040}"/>
              </a:ext>
            </a:extLst>
          </p:cNvPr>
          <p:cNvSpPr>
            <a:spLocks noGrp="1"/>
          </p:cNvSpPr>
          <p:nvPr/>
        </p:nvSpPr>
        <p:spPr>
          <a:xfrm>
            <a:off x="8096250" y="31337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避免污染與規格偏差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AEEAA543-8FA4-498A-8C79-45B184221255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1809750" cy="609600"/>
          </a:xfrm>
          <a:prstGeom prst="roundRect">
            <a:avLst>
              <a:gd name="adj" fmla="val 12500"/>
            </a:avLst>
          </a:prstGeom>
          <a:solidFill>
            <a:srgbClr val="1F6F8B"/>
          </a:solidFill>
          <a:ln w="9525">
            <a:solidFill>
              <a:srgbClr val="1F6F8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1ABB3C-712B-4560-9294-02B3ACC70B12}"/>
              </a:ext>
            </a:extLst>
          </p:cNvPr>
          <p:cNvSpPr>
            <a:spLocks noGrp="1"/>
          </p:cNvSpPr>
          <p:nvPr/>
        </p:nvSpPr>
        <p:spPr>
          <a:xfrm>
            <a:off x="914400" y="3971925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庫存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9CDA2151-5693-4184-BDD1-E0C42BC15F8D}"/>
              </a:ext>
            </a:extLst>
          </p:cNvPr>
          <p:cNvSpPr>
            <a:spLocks noGrp="1"/>
          </p:cNvSpPr>
          <p:nvPr/>
        </p:nvSpPr>
        <p:spPr>
          <a:xfrm>
            <a:off x="2686050" y="3819525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5DFD7E-494D-4E02-8654-B830255A45D7}"/>
              </a:ext>
            </a:extLst>
          </p:cNvPr>
          <p:cNvSpPr>
            <a:spLocks noGrp="1"/>
          </p:cNvSpPr>
          <p:nvPr/>
        </p:nvSpPr>
        <p:spPr>
          <a:xfrm>
            <a:off x="2952750" y="397192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ERP／MES、FIFO、盤點、異動紀錄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70DEE841-78CA-485E-9FAC-1E8C61049B62}"/>
              </a:ext>
            </a:extLst>
          </p:cNvPr>
          <p:cNvSpPr>
            <a:spLocks noGrp="1"/>
          </p:cNvSpPr>
          <p:nvPr/>
        </p:nvSpPr>
        <p:spPr>
          <a:xfrm>
            <a:off x="7829550" y="3819525"/>
            <a:ext cx="3676650" cy="609600"/>
          </a:xfrm>
          <a:prstGeom prst="roundRect">
            <a:avLst>
              <a:gd name="adj" fmla="val 12500"/>
            </a:avLst>
          </a:prstGeom>
          <a:solidFill>
            <a:srgbClr val="EAF0F2"/>
          </a:solidFill>
          <a:ln w="9525">
            <a:solidFill>
              <a:srgbClr val="D5E1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BDB038-6DCC-4F2B-B3C3-4A741ECB7479}"/>
              </a:ext>
            </a:extLst>
          </p:cNvPr>
          <p:cNvSpPr>
            <a:spLocks noGrp="1"/>
          </p:cNvSpPr>
          <p:nvPr/>
        </p:nvSpPr>
        <p:spPr>
          <a:xfrm>
            <a:off x="8096250" y="39719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確保數量與批次可追溯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209C2E57-40D5-4171-8862-C9F12D5A4FB4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1809750" cy="609600"/>
          </a:xfrm>
          <a:prstGeom prst="roundRect">
            <a:avLst>
              <a:gd name="adj" fmla="val 12500"/>
            </a:avLst>
          </a:prstGeom>
          <a:solidFill>
            <a:srgbClr val="2B9C95"/>
          </a:solidFill>
          <a:ln w="9525">
            <a:solidFill>
              <a:srgbClr val="2B9C9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D1AEC7-C35E-42AB-BA0A-DF741C06375F}"/>
              </a:ext>
            </a:extLst>
          </p:cNvPr>
          <p:cNvSpPr>
            <a:spLocks noGrp="1"/>
          </p:cNvSpPr>
          <p:nvPr/>
        </p:nvSpPr>
        <p:spPr>
          <a:xfrm>
            <a:off x="914400" y="4810125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防呆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5A5A1189-02CA-414A-A4DF-EA65F4980EE8}"/>
              </a:ext>
            </a:extLst>
          </p:cNvPr>
          <p:cNvSpPr>
            <a:spLocks noGrp="1"/>
          </p:cNvSpPr>
          <p:nvPr/>
        </p:nvSpPr>
        <p:spPr>
          <a:xfrm>
            <a:off x="2686050" y="4657725"/>
            <a:ext cx="4953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1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94D1595-854E-47FD-BC3E-16BA44630CE4}"/>
              </a:ext>
            </a:extLst>
          </p:cNvPr>
          <p:cNvSpPr>
            <a:spLocks noGrp="1"/>
          </p:cNvSpPr>
          <p:nvPr/>
        </p:nvSpPr>
        <p:spPr>
          <a:xfrm>
            <a:off x="2952750" y="4810125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SOP、雙人核對、標示、封籤</a:t>
            </a: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7FEFCA7B-6854-4D68-9238-000D40AD7D39}"/>
              </a:ext>
            </a:extLst>
          </p:cNvPr>
          <p:cNvSpPr>
            <a:spLocks noGrp="1"/>
          </p:cNvSpPr>
          <p:nvPr/>
        </p:nvSpPr>
        <p:spPr>
          <a:xfrm>
            <a:off x="7829550" y="4657725"/>
            <a:ext cx="3676650" cy="609600"/>
          </a:xfrm>
          <a:prstGeom prst="roundRect">
            <a:avLst>
              <a:gd name="adj" fmla="val 12500"/>
            </a:avLst>
          </a:prstGeom>
          <a:solidFill>
            <a:srgbClr val="EAF0F2"/>
          </a:solidFill>
          <a:ln w="9525">
            <a:solidFill>
              <a:srgbClr val="D5E1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42F0CC-D823-4414-8E24-330BF6C3CA26}"/>
              </a:ext>
            </a:extLst>
          </p:cNvPr>
          <p:cNvSpPr>
            <a:spLocks noGrp="1"/>
          </p:cNvSpPr>
          <p:nvPr/>
        </p:nvSpPr>
        <p:spPr>
          <a:xfrm>
            <a:off x="8096250" y="48101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把錯誤攔在放行之前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8F656E-2891-4ABC-8F33-972629D961D3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2045916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88E9C15-D216-425A-9DA8-F6BB59E02F42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9AD5CB"/>
                </a:solidFill>
              </a:defRPr>
            </a:pPr>
            <a:r>
              <a:rPr sz="1125" b="1">
                <a:solidFill>
                  <a:srgbClr val="9AD5CB"/>
                </a:solidFill>
              </a:rPr>
              <a:t>07｜現況與後續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E42C11-7B23-4EAF-A9C8-A2F7D77F96AA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981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下一步：讓現場標準，變成系統紀錄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33FE53-BD01-4887-9FDE-BAA87C6D189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D9E7EA"/>
                </a:solidFill>
              </a:defRPr>
            </a:pPr>
            <a:r>
              <a:rPr sz="1650" b="0">
                <a:solidFill>
                  <a:srgbClr val="D9E7EA"/>
                </a:solidFill>
              </a:rPr>
              <a:t>目前已建立 SOP、安全防呆與品管連動；後續以資訊化與訓練，讓流程更即時、更可追溯。</a:t>
            </a:r>
          </a:p>
        </p:txBody>
      </p:sp>
      <p:sp>
        <p:nvSpPr>
          <p:cNvPr id="4" name="圓角矩形 3">
            <a:extLst>
              <a:ext uri="{FF2B5EF4-FFF2-40B4-BE49-F238E27FC236}">
                <a16:creationId xmlns:a16="http://schemas.microsoft.com/office/drawing/2014/main" id="{DE942DB2-A6B9-4946-9C30-DA4671C82D62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1A455B"/>
          </a:solidFill>
          <a:ln w="9525">
            <a:solidFill>
              <a:srgbClr val="2D647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2BF9D8-C854-4767-B46D-4ACCAC8F1878}"/>
              </a:ext>
            </a:extLst>
          </p:cNvPr>
          <p:cNvSpPr>
            <a:spLocks noGrp="1"/>
          </p:cNvSpPr>
          <p:nvPr/>
        </p:nvSpPr>
        <p:spPr>
          <a:xfrm>
            <a:off x="933450" y="3219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E58B3A"/>
                </a:solidFill>
              </a:defRPr>
            </a:pPr>
            <a:r>
              <a:rPr sz="1875" b="1">
                <a:solidFill>
                  <a:srgbClr val="E58B3A"/>
                </a:solidFill>
              </a:rPr>
              <a:t>資訊化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99965D-DC5A-4EC9-90E5-4FAF7DB610B7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2647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逐步汰換紙本，導入 ERP／PDA 即時查驗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48CA022B-D8BA-4B8A-A984-79D9F96A6C46}"/>
              </a:ext>
            </a:extLst>
          </p:cNvPr>
          <p:cNvSpPr>
            <a:spLocks noGrp="1"/>
          </p:cNvSpPr>
          <p:nvPr/>
        </p:nvSpPr>
        <p:spPr>
          <a:xfrm>
            <a:off x="4210050" y="29527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1A455B"/>
          </a:solidFill>
          <a:ln w="9525">
            <a:solidFill>
              <a:srgbClr val="2D647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53979E-FE2F-45E6-A04F-95474F47070B}"/>
              </a:ext>
            </a:extLst>
          </p:cNvPr>
          <p:cNvSpPr>
            <a:spLocks noGrp="1"/>
          </p:cNvSpPr>
          <p:nvPr/>
        </p:nvSpPr>
        <p:spPr>
          <a:xfrm>
            <a:off x="4457700" y="3219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E58B3A"/>
                </a:solidFill>
              </a:defRPr>
            </a:pPr>
            <a:r>
              <a:rPr sz="1875" b="1">
                <a:solidFill>
                  <a:srgbClr val="E58B3A"/>
                </a:solidFill>
              </a:rPr>
              <a:t>訓練防呆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6DACBD-1E44-48AE-B60F-662D05B3EE1C}"/>
              </a:ext>
            </a:extLst>
          </p:cNvPr>
          <p:cNvSpPr>
            <a:spLocks noGrp="1"/>
          </p:cNvSpPr>
          <p:nvPr/>
        </p:nvSpPr>
        <p:spPr>
          <a:xfrm>
            <a:off x="4457700" y="3714750"/>
            <a:ext cx="2647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持續落實 SOP、雙人核對與全程監控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0274426-F53E-4598-A0FB-2888E12158BE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1A455B"/>
          </a:solidFill>
          <a:ln w="9525">
            <a:solidFill>
              <a:srgbClr val="2D6474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A718F1-18FB-4AD0-8825-E70527E791C1}"/>
              </a:ext>
            </a:extLst>
          </p:cNvPr>
          <p:cNvSpPr>
            <a:spLocks noGrp="1"/>
          </p:cNvSpPr>
          <p:nvPr/>
        </p:nvSpPr>
        <p:spPr>
          <a:xfrm>
            <a:off x="7981950" y="32194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E58B3A"/>
                </a:solidFill>
              </a:defRPr>
            </a:pPr>
            <a:r>
              <a:rPr sz="1875" b="1">
                <a:solidFill>
                  <a:srgbClr val="E58B3A"/>
                </a:solidFill>
              </a:rPr>
              <a:t>安全品質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054614-9435-43A9-BA49-C519201C896C}"/>
              </a:ext>
            </a:extLst>
          </p:cNvPr>
          <p:cNvSpPr>
            <a:spLocks noGrp="1"/>
          </p:cNvSpPr>
          <p:nvPr/>
        </p:nvSpPr>
        <p:spPr>
          <a:xfrm>
            <a:off x="7981950" y="3714750"/>
            <a:ext cx="2647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強化高處防護、溫控與 IQC／IPQC／FQC 連動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AD164C-BC2B-4EEA-AAC7-F1C734848715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19050"/>
          </a:xfrm>
          <a:prstGeom prst="rect">
            <a:avLst/>
          </a:prstGeom>
          <a:solidFill>
            <a:srgbClr val="4C7A89"/>
          </a:solidFill>
          <a:ln w="9525">
            <a:solidFill>
              <a:srgbClr val="4C7A8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B1A62C-D103-4B2D-A51C-E0EE9C807FFA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核心目標：安全作業、品質穩定、庫存正確、全程可追溯。</a:t>
            </a:r>
          </a:p>
        </p:txBody>
      </p:sp>
    </p:spTree>
    <p:extLst>
      <p:ext uri="{BB962C8B-B14F-4D97-AF65-F5344CB8AC3E}">
        <p14:creationId xmlns:p14="http://schemas.microsoft.com/office/powerpoint/2010/main" val="504345957"/>
      </p:ext>
    </p:extLst>
  </p:cSld>
  <p:clrMapOvr>
    <a:masterClrMapping/>
  </p:clrMapOvr>
</p:sld>
</file>

<file path=ppt/theme/theme1.xml><?xml version="1.0" encoding="utf-8"?>
<a:theme xmlns:a="http://schemas.openxmlformats.org/drawingml/2006/main" name="C10200-EDU-01 教育訓練作業管理辦法4.0版_鴻勝公司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C10200-EDU-01 教育訓練作業管理辦法4.0版_鴻勝公司模板</Template>
  <TotalTime>0</TotalTime>
  <Words>433</Words>
  <Application>Microsoft Office PowerPoint</Application>
  <DocSecurity>0</DocSecurity>
  <PresentationFormat>寬螢幕</PresentationFormat>
  <Paragraphs>148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C10200-EDU-01 教育訓練作業管理辦法4.0版_鴻勝公司模板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鴻勝化學-陳世偉</cp:lastModifiedBy>
  <cp:revision>1</cp:revision>
  <dcterms:created xsi:type="dcterms:W3CDTF">2026-09-03T00:55:07Z</dcterms:created>
  <dcterms:modified xsi:type="dcterms:W3CDTF">2026-09-03T04:17:27Z</dcterms:modified>
</cp:coreProperties>
</file>