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" name="Rectangle 3"/>
          <p:cNvSpPr/>
          <p:nvPr/>
        </p:nvSpPr>
        <p:spPr>
          <a:xfrm>
            <a:off x="749808" y="841248"/>
            <a:ext cx="108200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77240"/>
            <a:ext cx="10820095" cy="1188720"/>
          </a:xfrm>
          <a:prstGeom prst="rect">
            <a:avLst/>
          </a:prstGeom>
          <a:solidFill>
            <a:srgbClr val="FFE000"/>
          </a:solidFill>
          <a:ln w="444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754880"/>
            <a:ext cx="1280160" cy="1280160"/>
          </a:xfrm>
          <a:prstGeom prst="ellipse">
            <a:avLst/>
          </a:prstGeom>
          <a:solidFill>
            <a:srgbClr val="FF4D4D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9326880" y="5303520"/>
            <a:ext cx="1097280" cy="109728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400" b="1">
                <a:solidFill>
                  <a:srgbClr val="1A1A1A"/>
                </a:solidFill>
                <a:latin typeface="Alibaba PuHuiTi 3.0"/>
              </a:defRPr>
            </a:pPr>
            <a:r>
              <a:t>鴻勝化學：智慧物流與品質控制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1. 槽車物流實時調度系統</a:t>
            </a:r>
          </a:p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2. TSMC N-series 高精準條碼驗證</a:t>
            </a:r>
          </a:p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3. 現場操作離線優先防呆方案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" name="Rectangle 3"/>
          <p:cNvSpPr/>
          <p:nvPr/>
        </p:nvSpPr>
        <p:spPr>
          <a:xfrm>
            <a:off x="420624" y="420624"/>
            <a:ext cx="274320" cy="6126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74320" cy="6126480"/>
          </a:xfrm>
          <a:prstGeom prst="rect">
            <a:avLst/>
          </a:prstGeom>
          <a:solidFill>
            <a:srgbClr val="FF4D4D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48640"/>
            <a:ext cx="1005840" cy="1005840"/>
          </a:xfrm>
          <a:prstGeom prst="ellipse">
            <a:avLst/>
          </a:prstGeom>
          <a:solidFill>
            <a:srgbClr val="2E5BFF"/>
          </a:solidFill>
          <a:ln w="317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914400"/>
            <a:ext cx="822960" cy="822960"/>
          </a:xfrm>
          <a:prstGeom prst="ellipse">
            <a:avLst/>
          </a:prstGeom>
          <a:solidFill>
            <a:srgbClr val="FFE000"/>
          </a:solidFill>
          <a:ln w="317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A1A1A"/>
                </a:solidFill>
                <a:latin typeface="Alibaba PuHuiTi 3.0"/>
              </a:defRPr>
            </a:pPr>
            <a:r>
              <a:t>ISOTANK 物流痛點與解決方案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601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1. LLM 運算評估時間易出錯，存在數學幻覺</a:t>
            </a:r>
          </a:p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2. 解決方案：導入 Python 物流計算核心</a:t>
            </a:r>
          </a:p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3. 司機與調度端即時數據同步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" name="Rectangle 3"/>
          <p:cNvSpPr/>
          <p:nvPr/>
        </p:nvSpPr>
        <p:spPr>
          <a:xfrm>
            <a:off x="786384" y="6089904"/>
            <a:ext cx="10698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solidFill>
            <a:srgbClr val="2E5B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332720" y="1097280"/>
            <a:ext cx="1097280" cy="1097280"/>
          </a:xfrm>
          <a:prstGeom prst="diamond">
            <a:avLst/>
          </a:prstGeom>
          <a:solidFill>
            <a:srgbClr val="FFE000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A1A1A"/>
                </a:solidFill>
                <a:latin typeface="Alibaba PuHuiTi 3.0"/>
              </a:defRPr>
            </a:pPr>
            <a:r>
              <a:t>未來展望：React &amp; Supabase 升級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1. 現代化 Web 前端架構重構</a:t>
            </a:r>
          </a:p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2. Supabase RLS 資料庫層級安全防護</a:t>
            </a:r>
          </a:p>
          <a:p>
            <a:pPr>
              <a:spcAft>
                <a:spcPts val="2000"/>
              </a:spcAft>
              <a:defRPr sz="2200">
                <a:solidFill>
                  <a:srgbClr val="1A1A1A"/>
                </a:solidFill>
                <a:latin typeface="LXGW WenKai"/>
              </a:defRPr>
            </a:pPr>
            <a:r>
              <a:t>   3. 全面提升系統擴充性與響應速度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