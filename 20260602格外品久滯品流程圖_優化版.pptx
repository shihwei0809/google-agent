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2103120"/>
            <a:ext cx="13716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9601200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8FAFC"/>
                </a:solidFill>
                <a:latin typeface="Microsoft JhengHei"/>
              </a:defRPr>
            </a:pPr>
            <a:r>
              <a:rPr dirty="0" err="1"/>
              <a:t>格外品、久滯品處理流程優化</a:t>
            </a:r>
            <a:endParaRPr dirty="0"/>
          </a:p>
          <a:p>
            <a:pPr>
              <a:spcAft>
                <a:spcPts val="2000"/>
              </a:spcAft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rPr dirty="0"/>
              <a:t>S.O.P. </a:t>
            </a:r>
            <a:r>
              <a:rPr dirty="0" err="1" smtClean="0"/>
              <a:t>標準管制與教育訓練指引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463040" y="55778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Microsoft JhengHei"/>
              </a:defRPr>
            </a:pPr>
            <a:r>
              <a:t>鴻勝化學工業股份有限公司 · 廠務暨品保管理部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本流程基於公司《格外品處理、儲存管理辦法》優化編制，提供 🟢回流再製 / 🔵折價銷售 / 🔴廢棄報廢 三大標準路徑。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icrosoft JhengHei"/>
              </a:defRPr>
            </a:pPr>
            <a:r>
              <a:t>01. 格外品、久滯品流程圖</a:t>
            </a:r>
          </a:p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全體流程單向向下流動，清晰分工無折返路徑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28055" y="36576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2647" y="329184"/>
            <a:ext cx="8869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申請/廠務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65760"/>
            <a:ext cx="109728" cy="10972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5647" y="329184"/>
            <a:ext cx="8869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品保鑑定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4055" y="36576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8647" y="329184"/>
            <a:ext cx="8869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生產再製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57055" y="365760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1647" y="329184"/>
            <a:ext cx="8869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業務銷售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00055" y="365760"/>
            <a:ext cx="109728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64647" y="329184"/>
            <a:ext cx="8869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核准報廢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71600"/>
            <a:ext cx="2057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1371600"/>
            <a:ext cx="2057400" cy="411480"/>
          </a:xfrm>
          <a:prstGeom prst="round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申請與監控單位</a:t>
            </a:r>
          </a:p>
          <a:p>
            <a:pPr algn="ctr">
              <a:defRPr sz="750">
                <a:solidFill>
                  <a:srgbClr val="38BDF8"/>
                </a:solidFill>
                <a:latin typeface="Microsoft JhengHei"/>
              </a:defRPr>
            </a:pPr>
            <a:r>
              <a:t>申請部門 &amp; 廠務管制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371600"/>
            <a:ext cx="2057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0" y="1371600"/>
            <a:ext cx="2057400" cy="411480"/>
          </a:xfrm>
          <a:prstGeom prst="round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品質鑑定單位</a:t>
            </a:r>
          </a:p>
          <a:p>
            <a:pPr algn="ctr">
              <a:defRPr sz="750">
                <a:solidFill>
                  <a:srgbClr val="A855F7"/>
                </a:solidFill>
                <a:latin typeface="Microsoft JhengHei"/>
              </a:defRPr>
            </a:pPr>
            <a:r>
              <a:t>品保部 (QA)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371600"/>
            <a:ext cx="2057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60" y="1371600"/>
            <a:ext cx="2057400" cy="411480"/>
          </a:xfrm>
          <a:prstGeom prst="round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再製執行單位</a:t>
            </a:r>
          </a:p>
          <a:p>
            <a:pPr algn="ctr">
              <a:defRPr sz="750">
                <a:solidFill>
                  <a:srgbClr val="10B981"/>
                </a:solidFill>
                <a:latin typeface="Microsoft JhengHei"/>
              </a:defRPr>
            </a:pPr>
            <a:r>
              <a:t>生產現場主管/各課室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371600"/>
            <a:ext cx="2057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0" y="1371600"/>
            <a:ext cx="2057400" cy="411480"/>
          </a:xfrm>
          <a:prstGeom prst="round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價值評估單位</a:t>
            </a:r>
          </a:p>
          <a:p>
            <a:pPr algn="ctr">
              <a:defRPr sz="750">
                <a:solidFill>
                  <a:srgbClr val="F59E0B"/>
                </a:solidFill>
                <a:latin typeface="Microsoft JhengHei"/>
              </a:defRPr>
            </a:pPr>
            <a:r>
              <a:t>業務部 (Sales)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371600"/>
            <a:ext cx="2057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26880" y="1371600"/>
            <a:ext cx="2057400" cy="411480"/>
          </a:xfrm>
          <a:prstGeom prst="round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核准與報廢處置</a:t>
            </a:r>
          </a:p>
          <a:p>
            <a:pPr algn="ctr">
              <a:defRPr sz="750">
                <a:solidFill>
                  <a:srgbClr val="EF4444"/>
                </a:solidFill>
                <a:latin typeface="Microsoft JhengHei"/>
              </a:defRPr>
            </a:pPr>
            <a:r>
              <a:t>(副)總經理 / 環安單位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9052" y="2560320"/>
            <a:ext cx="36576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59052" y="3291840"/>
            <a:ext cx="36576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59052" y="4023360"/>
            <a:ext cx="36576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00300" y="3730751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94860" y="3730751"/>
            <a:ext cx="548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54780" y="3493007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10B981"/>
                </a:solidFill>
                <a:latin typeface="Microsoft JhengHei"/>
              </a:defRPr>
            </a:pPr>
            <a:r>
              <a:t>🟢可再製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53612" y="4023360"/>
            <a:ext cx="36576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71900" y="4370832"/>
            <a:ext cx="35661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40580" y="41330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59E0B"/>
                </a:solidFill>
                <a:latin typeface="Microsoft JhengHei"/>
              </a:defRPr>
            </a:pPr>
            <a:r>
              <a:t>🔵不可再製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8172" y="4023360"/>
            <a:ext cx="3657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8172" y="5166360"/>
            <a:ext cx="3657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577340" y="5376672"/>
            <a:ext cx="43891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789420" y="3730751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12180" y="3493007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59E0B"/>
                </a:solidFill>
                <a:latin typeface="Microsoft JhengHei"/>
              </a:defRPr>
            </a:pPr>
            <a:r>
              <a:t>⚠️再製失敗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5452" y="3749039"/>
            <a:ext cx="36576" cy="6400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63740" y="4370832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42732" y="4663440"/>
            <a:ext cx="3657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42732" y="5532120"/>
            <a:ext cx="36576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577340" y="5650992"/>
            <a:ext cx="6583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83980" y="4370832"/>
            <a:ext cx="5486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3900" y="41330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EF4444"/>
                </a:solidFill>
                <a:latin typeface="Microsoft JhengHei"/>
              </a:defRPr>
            </a:pPr>
            <a:r>
              <a:t>🔴無殘值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37292" y="4663440"/>
            <a:ext cx="3657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337292" y="5532120"/>
            <a:ext cx="3657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577340" y="5788152"/>
            <a:ext cx="87782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559052" y="5989320"/>
            <a:ext cx="36576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54380" y="2011680"/>
            <a:ext cx="1645920" cy="5486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無法自行回收料品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" y="2743200"/>
            <a:ext cx="1645920" cy="548640"/>
          </a:xfrm>
          <a:prstGeom prst="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填寫處理單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38BDF8"/>
                </a:solidFill>
                <a:latin typeface="Microsoft JhengHei"/>
              </a:defRPr>
            </a:pPr>
            <a:r>
              <a:t>表HS-QA-F-082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" y="3474720"/>
            <a:ext cx="1645920" cy="5486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登錄管制表列管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38BDF8"/>
                </a:solidFill>
                <a:latin typeface="Microsoft JhengHei"/>
              </a:defRPr>
            </a:pPr>
            <a:r>
              <a:t>表HS-QA-T-015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廠務專責列管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" y="5440680"/>
            <a:ext cx="1645920" cy="5486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列管至處理完成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38BDF8"/>
                </a:solidFill>
                <a:latin typeface="Microsoft JhengHei"/>
              </a:defRPr>
            </a:pPr>
            <a:r>
              <a:t>處理單/管制表銷案</a:t>
            </a:r>
          </a:p>
        </p:txBody>
      </p:sp>
      <p:sp>
        <p:nvSpPr>
          <p:cNvPr id="53" name="Diamond 52"/>
          <p:cNvSpPr/>
          <p:nvPr/>
        </p:nvSpPr>
        <p:spPr>
          <a:xfrm>
            <a:off x="2948940" y="3474720"/>
            <a:ext cx="1645920" cy="548640"/>
          </a:xfrm>
          <a:prstGeom prst="diamond">
            <a:avLst/>
          </a:prstGeom>
          <a:solidFill>
            <a:srgbClr val="16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品保鑑定品質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A855F7"/>
                </a:solidFill>
                <a:latin typeface="Microsoft JhengHei"/>
              </a:defRPr>
            </a:pPr>
            <a:r>
              <a:t>判定是否可回收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品質鑑定準則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43500" y="3474720"/>
            <a:ext cx="1645920" cy="5486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生產單位再製處理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10B981"/>
                </a:solidFill>
                <a:latin typeface="Microsoft JhengHei"/>
              </a:defRPr>
            </a:pPr>
            <a:r>
              <a:t>回流精餾 / 大槽調配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現場排程操作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43500" y="4572000"/>
            <a:ext cx="1645920" cy="594360"/>
          </a:xfrm>
          <a:prstGeom prst="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格外品處理、儲存辦法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10B981"/>
                </a:solidFill>
                <a:latin typeface="Microsoft JhengHei"/>
              </a:defRPr>
            </a:pPr>
            <a:r>
              <a:t>C50110-INV-05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再製回收及儲存規範</a:t>
            </a:r>
          </a:p>
        </p:txBody>
      </p:sp>
      <p:sp>
        <p:nvSpPr>
          <p:cNvPr id="56" name="Diamond 55"/>
          <p:cNvSpPr/>
          <p:nvPr/>
        </p:nvSpPr>
        <p:spPr>
          <a:xfrm>
            <a:off x="7338060" y="4114800"/>
            <a:ext cx="1645920" cy="548640"/>
          </a:xfrm>
          <a:prstGeom prst="diamond">
            <a:avLst/>
          </a:prstGeom>
          <a:solidFill>
            <a:srgbClr val="16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業務部評估出售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F59E0B"/>
                </a:solidFill>
                <a:latin typeface="Microsoft JhengHei"/>
              </a:defRPr>
            </a:pPr>
            <a:r>
              <a:t>評估理化殘值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折價销售準則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38060" y="4937760"/>
            <a:ext cx="1645920" cy="594360"/>
          </a:xfrm>
          <a:prstGeom prst="rect">
            <a:avLst/>
          </a:prstGeom>
          <a:solidFill>
            <a:srgbClr val="16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安排降級出貨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F59E0B"/>
                </a:solidFill>
                <a:latin typeface="Microsoft JhengHei"/>
              </a:defRPr>
            </a:pPr>
            <a:r>
              <a:t>C20110-SAL-02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次級品合約及地磅過重</a:t>
            </a:r>
          </a:p>
        </p:txBody>
      </p:sp>
      <p:sp>
        <p:nvSpPr>
          <p:cNvPr id="58" name="Diamond 57"/>
          <p:cNvSpPr/>
          <p:nvPr/>
        </p:nvSpPr>
        <p:spPr>
          <a:xfrm>
            <a:off x="9532619" y="4114800"/>
            <a:ext cx="1645920" cy="548640"/>
          </a:xfrm>
          <a:prstGeom prst="diamond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(副)總經理審核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EF4444"/>
                </a:solidFill>
                <a:latin typeface="Microsoft JhengHei"/>
              </a:defRPr>
            </a:pPr>
            <a:r>
              <a:t>核准報廢資產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授權授信矩陣(LOA)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32619" y="4937760"/>
            <a:ext cx="1645920" cy="594360"/>
          </a:xfrm>
          <a:prstGeom prst="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Microsoft JhengHei"/>
              </a:defRPr>
            </a:pPr>
            <a:r>
              <a:t>事業廢棄物處置</a:t>
            </a:r>
          </a:p>
          <a:p>
            <a:pPr algn="ctr">
              <a:spcBef>
                <a:spcPts val="100"/>
              </a:spcBef>
              <a:defRPr sz="800" b="1">
                <a:solidFill>
                  <a:srgbClr val="EF4444"/>
                </a:solidFill>
                <a:latin typeface="Microsoft JhengHei"/>
              </a:defRPr>
            </a:pPr>
            <a:r>
              <a:t>C10500-EPO-02</a:t>
            </a:r>
          </a:p>
          <a:p>
            <a:pPr algn="ctr">
              <a:spcBef>
                <a:spcPts val="200"/>
              </a:spcBef>
              <a:defRPr sz="700">
                <a:solidFill>
                  <a:srgbClr val="94A3B8"/>
                </a:solidFill>
                <a:latin typeface="Microsoft JhengHei"/>
              </a:defRPr>
            </a:pPr>
            <a:r>
              <a:t>委託甲級清除商/GPS軌跡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icrosoft JhengHei"/>
              </a:defRPr>
            </a:pPr>
            <a:r>
              <a:t>02. 權責分工與表單生命週期</a:t>
            </a:r>
          </a:p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明確判定與執行角色，確保格外品全程有跡可循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各部門核心權責分工 (R&amp;R)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■ 申請部門：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負責在現場隔離異常品、掛牌標記並於24小時內填寫格外品處理單。</a:t>
            </a:r>
          </a:p>
          <a:p>
            <a:pPr>
              <a:spcBef>
                <a:spcPts val="800"/>
              </a:spcBef>
              <a:defRPr sz="1100" b="1">
                <a:solidFill>
                  <a:srgbClr val="A855F7"/>
                </a:solidFill>
                <a:latin typeface="Microsoft JhengHei"/>
              </a:defRPr>
            </a:pPr>
            <a:r>
              <a:t>■ 品保部：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負責重新採樣化驗，並依理化指標做「🟢可回收」或「🔴不可回收」的關鍵分流鑑定。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Microsoft JhengHei"/>
              </a:defRPr>
            </a:pPr>
            <a:r>
              <a:t>■ 生產課室：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負責將核准之可回收品進行再製（精餾回流/大槽按比例調混），若失敗則通報業務。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■ 業務部：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負責不可回收產品的商業價值殘值判定，尋找次級品買家折價出售。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  <a:latin typeface="Microsoft JhengHei"/>
              </a:defRPr>
            </a:pPr>
            <a:r>
              <a:t>■ 總經理/環安：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核准無殘值產品的資產報廢，環安嚴格遵照環保法規委外清運處置。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A855F7"/>
                </a:solidFill>
                <a:latin typeface="Microsoft JhengHei"/>
              </a:defRPr>
            </a:pPr>
            <a:r>
              <a:t>雙表管理生命週期 (Form Lifecycle)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F8FAFC"/>
                </a:solidFill>
                <a:latin typeface="Microsoft JhengHei"/>
              </a:defRPr>
            </a:pPr>
            <a:r>
              <a:t>【表1】格外品、久滯品處理單 (流轉專用表單)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● 誕生：現場產出異常料品時，由申請單位發起，檢附COA原始化驗單。</a:t>
            </a:r>
            <a:br/>
            <a:r>
              <a:t>● 流轉：品保填寫品質鑑定結論 ➔ 現場填寫再製紀錄 ➔ 或業務填寫降級合約 ➔ 或總經理報廢簽核。</a:t>
            </a:r>
            <a:br/>
            <a:r>
              <a:t>● 銷案：於最後處置完成並上傳憑證後，廠務管制窗口確認結案銷案。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50" b="1">
                <a:solidFill>
                  <a:srgbClr val="F8FAFC"/>
                </a:solidFill>
                <a:latin typeface="Microsoft JhengHei"/>
              </a:defRPr>
            </a:pPr>
            <a:r>
              <a:t>【表2】格外品、久滯品管制表 (追蹤列管台帳)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● 誕生：品保部收到處理單後立案，發放唯一系統列管序號（HS-OP-XXXX）。</a:t>
            </a:r>
            <a:br/>
            <a:r>
              <a:t>● 追蹤：列為廠務部「每週生產調度會議」重點追蹤台帳，無結案憑證者不得擅自銷案。</a:t>
            </a:r>
            <a:br/>
            <a:r>
              <a:t>● 存查：結案後，憑證與處理單一同歸檔，系統保存5年以上以備稽核調閱。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Microsoft JhengHei"/>
              </a:defRPr>
            </a:pPr>
            <a:r>
              <a:t>03. 核心管理辦法與稽核防錯機制</a:t>
            </a:r>
          </a:p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三大 SOP 互鎖，確保財務帳實一致性與環保合規性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格外品處理、儲存管理辦法</a:t>
            </a:r>
          </a:p>
          <a:p>
            <a:pPr>
              <a:spcAft>
                <a:spcPts val="1200"/>
              </a:spcAft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辦法編號：C50110-INV-05 (3.0版)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久滯品期限判定：依最後異動起算，電子級儲槽超60天、工業級儲槽超120天即列入久滯品台帳追蹤去化。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儲存容器規範：1M3塑膠新/回收桶需在2年內製造；格外品存放超半年的料品，必須以ISO-TANK或白鐵桶存放。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外觀與BPM控制：桶裝存放區須黏貼A4黃色「格外品專用外觀標示」註明啟用日期與年限，並於BPM開立處理單。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38328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出貨作業辦法</a:t>
            </a:r>
          </a:p>
          <a:p>
            <a:pPr>
              <a:spcAft>
                <a:spcPts val="1200"/>
              </a:spcAft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辦法編號：C20110-SAL-02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次級品標籤化：銷售出貨單、合約與發票上必須明文備註「格外品/降級品，概不退換」，出廠檢驗單(COA)必須以實測異常值開具。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二次地磅檢驗：槽車裝載出廠前，必須經過工廠大門過重地磅，確認出廠淨重與申報無誤後方可放行。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⚠️稽核紅線：嚴禁使用合格品包裝或COA來混淆降級品出貨！一旦查獲，涉案同仁將直接予以開除處分並送法辦。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EF4444"/>
                </a:solidFill>
                <a:latin typeface="Microsoft JhengHei"/>
              </a:defRPr>
            </a:pPr>
            <a:r>
              <a:t>廢棄物管理辦法</a:t>
            </a:r>
          </a:p>
          <a:p>
            <a:pPr>
              <a:spcAft>
                <a:spcPts val="1200"/>
              </a:spcAft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辦法編號：C10500-EPO-02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甲級清除資質互鎖：廢棄物處置必須委託經環保署核可、具資質之甲級事業廢棄物清除商，簽署正式清運合約。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三聯單與GPS追蹤：清運時線上填報「三聯單」並封存備查，追蹤清運槽車之GPS軌跡，確保清運至合規焚化爐。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Microsoft JhengHei"/>
              </a:defRPr>
            </a:pPr>
            <a:r>
              <a:t>● ⚠️稽核紅線：嚴禁將化學廢棄物交予地下無證回收商或非法傾倒！違者除面臨數百萬罰鍰外，環安主管將負刑事責任。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414</Words>
  <Application>Microsoft Office PowerPoint</Application>
  <PresentationFormat>寬螢幕</PresentationFormat>
  <Paragraphs>89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鴻勝化學-陳世偉</cp:lastModifiedBy>
  <cp:revision>3</cp:revision>
  <dcterms:created xsi:type="dcterms:W3CDTF">2013-01-27T09:14:16Z</dcterms:created>
  <dcterms:modified xsi:type="dcterms:W3CDTF">2026-06-03T01:32:37Z</dcterms:modified>
  <cp:category/>
</cp:coreProperties>
</file>